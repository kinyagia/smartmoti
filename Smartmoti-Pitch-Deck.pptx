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71e31ef-667c-33b2-6de8-cacc5bdf1bf6}">
          <p14:sldIdLst>
            <p14:sldId id="256"/>
          </p14:sldIdLst>
        </p14:section>
        <p14:section name="The problem" id="{1f0f75d5-267b-5f13-5eca-115b640115a8}">
          <p14:sldIdLst>
            <p14:sldId id="257"/>
            <p14:sldId id="258"/>
            <p14:sldId id="259"/>
          </p14:sldIdLst>
        </p14:section>
        <p14:section name="The solution" id="{b370b330-66f2-f384-7fec-511f0a61b77b}">
          <p14:sldIdLst>
            <p14:sldId id="260"/>
            <p14:sldId id="261"/>
            <p14:sldId id="262"/>
            <p14:sldId id="263"/>
          </p14:sldIdLst>
        </p14:section>
        <p14:section name="Business and ask" id="{e1633240-9442-8bbd-b412-5bdb603cfac3}">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every car on a Kenyan road has a history, but almost none of them can prove it. Smartmoti makes that history provable.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Kenya is a used-car nation. Roughly 130,000 second-hand vehicles arrive every year, they make up over 85 percent of the market, and the used-car market was worth about 1.28 billion US dollars in 2025. Every one of those cars is resold, often several times, and every sale depends on a history nobody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decide a used car’s value: how far it has really gone, how well it was looked after, and who owned it. Today a Kenyan buyer cannot reliably verify any of the three. Sellers who did look after their cars cannot prove it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Buyers already spend money to check a car’s past: 550 shillings for an NTSA copy of records and 500 shillings for a Japanese export mileage check. Both stop at the border or at the logbook. Nothing tells a buyer how the car was maintained in Kenya, which is exactly what sellers brag about and buyers value. That gap is Smartmoti.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out loud, slowly. The passport follows the car, not the owner. Each owner adds to it, and when the car is sold the next buyer inherits a history they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the owner or their garage logs work as it happens. Prove: nothing is silently overwritten, so a buyer sees exactly what was entered and when. Share: the seller picks which history appears on the listing, and sensitive identifiers never leave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orbits the passport. Fuel logs make running costs visible. The marketplace turns a good history into a better price. The AI assistant is optional: it reads only your own garage, cites the records it uses, and proposes changes you approve. Blockchain is used only if an owner chooses to mint a passport NFT.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history service only works if both sides trust it. Buyers trust it because records cannot be quietly rewritten. Owners trust it because the sensitive parts of their car’s identity never leave their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never pay to keep their car’s history, because more passports make the marketplace more valuable. Sellers pay once, when the history earns them a better price, at a fee below what buyers already pay for a single NTSA search. Garages join free during the pilot, because their records are what make a history trustworthy. Dealer and fleet pricing will be set from pilot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live demo at /demo: a guided seven-step walkthrough with a sample garage, kept separate from real accounts. Approvals are checked against the current workspace and are safe to repeat, so a double click never saves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promise and make one specific ask. Kenyans already value a car with a traceable past. Smartmoti lets every owner build one and every buyer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0E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rtlCol="0"/>
          <a:lstStyle>
            <a:lvl1pPr indent="0" marL="0">
              <a:buNone/>
              <a:defRPr lang="en-US" sz="1400" b="1" spc="300" kern="0" dirty="0">
                <a:solidFill>
                  <a:srgbClr val="9A5B0C"/>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rtlCol="0"/>
          <a:lstStyle>
            <a:lvl1pPr algn="l" indent="0" marL="0">
              <a:buNone/>
              <a:defRPr lang="en-US" sz="3600" b="1" dirty="0">
                <a:solidFill>
                  <a:srgbClr val="14211D"/>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4" name="Text 0"/>
          <p:cNvSpPr/>
          <p:nvPr>
            <p:ph idx="102" type="body" hasCustomPrompt="1"/>
          </p:nvPr>
        </p:nvSpPr>
        <p:spPr>
          <a:xfrm>
            <a:off x="548640" y="6263640"/>
            <a:ext cx="10241280" cy="320040"/>
          </a:xfrm>
          <a:prstGeom prst="rect">
            <a:avLst/>
          </a:prstGeom>
          <a:noFill/>
          <a:ln/>
        </p:spPr>
        <p:txBody>
          <a:bodyPr wrap="square" rtlCol="0"/>
          <a:lstStyle>
            <a:lvl1pPr indent="0" marL="0">
              <a:buNone/>
              <a:defRPr lang="en-US" sz="1100" dirty="0">
                <a:solidFill>
                  <a:srgbClr val="4A544F"/>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rtlCol="0"/>
          <a:lstStyle>
            <a:lvl1pPr indent="0" marL="0">
              <a:buNone/>
              <a:defRPr lang="en-US" sz="1400" b="1" spc="300" kern="0" dirty="0">
                <a:solidFill>
                  <a:srgbClr val="E9A23B"/>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rtlCol="0"/>
          <a:lstStyle>
            <a:lvl1pPr algn="l" indent="0" marL="0">
              <a:buNone/>
              <a:defRPr lang="en-US" sz="3600" b="1" dirty="0">
                <a:solidFill>
                  <a:srgbClr val="F4F0E6"/>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4" name="Text 0"/>
          <p:cNvSpPr/>
          <p:nvPr>
            <p:ph idx="102" type="body" hasCustomPrompt="1"/>
          </p:nvPr>
        </p:nvSpPr>
        <p:spPr>
          <a:xfrm>
            <a:off x="548640" y="6263640"/>
            <a:ext cx="10241280" cy="320040"/>
          </a:xfrm>
          <a:prstGeom prst="rect">
            <a:avLst/>
          </a:prstGeom>
          <a:noFill/>
          <a:ln/>
        </p:spPr>
        <p:txBody>
          <a:bodyPr wrap="square" rtlCol="0"/>
          <a:lstStyle>
            <a:lvl1pPr indent="0" marL="0">
              <a:buNone/>
              <a:defRPr lang="en-US" sz="1100" dirty="0">
                <a:solidFill>
                  <a:srgbClr val="C9D3C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D3C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rgbClr val="E9A23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p:cNvSpPr txBox="1"/>
          <p:nvPr/>
        </p:nvSpPr>
        <p:spPr>
          <a:xfrm>
            <a:off x="548640" y="1828800"/>
            <a:ext cx="11091672" cy="411480"/>
          </a:xfrm>
          <a:prstGeom prst="rect">
            <a:avLst/>
          </a:prstGeom>
          <a:noFill/>
          <a:ln/>
        </p:spPr>
        <p:txBody>
          <a:bodyPr wrap="square" lIns="0" tIns="0" rIns="0" bIns="0" rtlCol="0" anchor="t"/>
          <a:lstStyle/>
          <a:p>
            <a:pPr indent="0" marL="0">
              <a:buNone/>
            </a:pPr>
            <a:r>
              <a:rPr lang="en-US" sz="1800" b="1" spc="600" kern="0" dirty="0">
                <a:solidFill>
                  <a:srgbClr val="E9A23B"/>
                </a:solidFill>
                <a:latin typeface="Calibri" pitchFamily="34" charset="0"/>
                <a:ea typeface="Calibri" pitchFamily="34" charset="-122"/>
                <a:cs typeface="Calibri" pitchFamily="34" charset="-120"/>
              </a:rPr>
              <a:t>SMARTMOTI</a:t>
            </a:r>
            <a:endParaRPr lang="en-US" sz="1800" dirty="0"/>
          </a:p>
        </p:txBody>
      </p:sp>
      <p:sp>
        <p:nvSpPr>
          <p:cNvPr id="3" name="Promise"/>
          <p:cNvSpPr txBox="1"/>
          <p:nvPr/>
        </p:nvSpPr>
        <p:spPr>
          <a:xfrm>
            <a:off x="548640" y="2331720"/>
            <a:ext cx="9601200" cy="1828800"/>
          </a:xfrm>
          <a:prstGeom prst="rect">
            <a:avLst/>
          </a:prstGeom>
          <a:noFill/>
          <a:ln/>
        </p:spPr>
        <p:txBody>
          <a:bodyPr wrap="square" lIns="0" tIns="0" rIns="0" bIns="0" rtlCol="0" anchor="t"/>
          <a:lstStyle/>
          <a:p>
            <a:pPr indent="0" marL="0">
              <a:buNone/>
            </a:pPr>
            <a:r>
              <a:rPr lang="en-US" sz="5400" b="1" dirty="0">
                <a:solidFill>
                  <a:srgbClr val="F4F0E6"/>
                </a:solidFill>
                <a:latin typeface="Arial" pitchFamily="34" charset="0"/>
                <a:ea typeface="Arial" pitchFamily="34" charset="-122"/>
                <a:cs typeface="Arial" pitchFamily="34" charset="-120"/>
              </a:rPr>
              <a:t>Every car deserves a provable past</a:t>
            </a:r>
            <a:endParaRPr lang="en-US" sz="5400" dirty="0"/>
          </a:p>
        </p:txBody>
      </p:sp>
      <p:sp>
        <p:nvSpPr>
          <p:cNvPr id="4" name="Subtitle"/>
          <p:cNvSpPr txBox="1"/>
          <p:nvPr/>
        </p:nvSpPr>
        <p:spPr>
          <a:xfrm>
            <a:off x="548640" y="4297680"/>
            <a:ext cx="9144000" cy="548640"/>
          </a:xfrm>
          <a:prstGeom prst="rect">
            <a:avLst/>
          </a:prstGeom>
          <a:noFill/>
          <a:ln/>
        </p:spPr>
        <p:txBody>
          <a:bodyPr wrap="square" lIns="0" tIns="0" rIns="0" bIns="0" rtlCol="0" anchor="t"/>
          <a:lstStyle/>
          <a:p>
            <a:pPr indent="0" marL="0">
              <a:buNone/>
            </a:pPr>
            <a:r>
              <a:rPr lang="en-US" sz="2400" dirty="0">
                <a:solidFill>
                  <a:srgbClr val="C9D3CC"/>
                </a:solidFill>
                <a:latin typeface="Calibri" pitchFamily="34" charset="0"/>
                <a:ea typeface="Calibri" pitchFamily="34" charset="-122"/>
                <a:cs typeface="Calibri" pitchFamily="34" charset="-120"/>
              </a:rPr>
              <a:t>Lifetime vehicle records for Kenya’s second-hand car market</a:t>
            </a:r>
            <a:endParaRPr lang="en-US" sz="2400" dirty="0"/>
          </a:p>
        </p:txBody>
      </p:sp>
      <p:sp>
        <p:nvSpPr>
          <p:cNvPr id="5"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r>
              <a:rPr lang="en-US" sz="1100" dirty="0">
                <a:solidFill>
                  <a:srgbClr val="C9D3CC"/>
                </a:solidFill>
                <a:latin typeface="Calibri" pitchFamily="34" charset="0"/>
                <a:ea typeface="Calibri" pitchFamily="34" charset="-122"/>
                <a:cs typeface="Calibri" pitchFamily="34" charset="-120"/>
              </a:rPr>
              <a:t>Smartmoti · AI Hackathon (Kenya) · October 2026</a:t>
            </a:r>
            <a:endParaRPr lang="en-US" sz="1100" dirty="0"/>
          </a:p>
        </p:txBody>
      </p:sp>
      <p:sp>
        <p:nvSpPr>
          <p:cNvPr id="7"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endParaRPr lang="en-US" sz="1400" dirty="0"/>
          </a:p>
        </p:txBody>
      </p:sp>
      <p:sp>
        <p:nvSpPr>
          <p:cNvPr id="8"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D3CC"/>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9A5B0C"/>
                </a:solidFill>
                <a:latin typeface="Calibri" pitchFamily="34" charset="0"/>
                <a:ea typeface="Calibri" pitchFamily="34" charset="-122"/>
                <a:cs typeface="Calibri" pitchFamily="34" charset="-120"/>
              </a:rPr>
              <a:t>THE PROBLEM</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14211D"/>
                </a:solidFill>
                <a:latin typeface="Arial" pitchFamily="34" charset="0"/>
                <a:ea typeface="Arial" pitchFamily="34" charset="-122"/>
                <a:cs typeface="Arial" pitchFamily="34" charset="-120"/>
              </a:rPr>
              <a:t>In Kenya’s used-car market, a car’s past is a rumour</a:t>
            </a:r>
            <a:endParaRPr lang="en-US" sz="3600" dirty="0"/>
          </a:p>
        </p:txBody>
      </p:sp>
      <p:sp>
        <p:nvSpPr>
          <p:cNvPr id="4"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r>
              <a:rPr lang="en-US" sz="1100" dirty="0">
                <a:solidFill>
                  <a:srgbClr val="4A544F"/>
                </a:solidFill>
                <a:latin typeface="Calibri" pitchFamily="34" charset="0"/>
                <a:ea typeface="Calibri" pitchFamily="34" charset="-122"/>
                <a:cs typeface="Calibri" pitchFamily="34" charset="-120"/>
              </a:rPr>
              <a:t>Sources: The Star, 28 August 2026; Mordor Intelligence, Kenya Used Car Market report, 2026</a:t>
            </a:r>
            <a:endParaRPr lang="en-US" sz="1100" dirty="0"/>
          </a:p>
        </p:txBody>
      </p:sp>
      <p:sp>
        <p:nvSpPr>
          <p:cNvPr id="5" name="Stat 1 card"/>
          <p:cNvSpPr/>
          <p:nvPr/>
        </p:nvSpPr>
        <p:spPr>
          <a:xfrm>
            <a:off x="548640" y="2514600"/>
            <a:ext cx="3447288" cy="3017520"/>
          </a:xfrm>
          <a:prstGeom prst="roundRect">
            <a:avLst>
              <a:gd name="adj" fmla="val 3636"/>
            </a:avLst>
          </a:prstGeom>
          <a:solidFill>
            <a:srgbClr val="FBF9F3"/>
          </a:solidFill>
          <a:ln w="12700">
            <a:solidFill>
              <a:srgbClr val="E9E3D4"/>
            </a:solidFill>
            <a:prstDash val="solid"/>
          </a:ln>
        </p:spPr>
      </p:sp>
      <p:sp>
        <p:nvSpPr>
          <p:cNvPr id="6" name="Stat 1 value"/>
          <p:cNvSpPr txBox="1"/>
          <p:nvPr/>
        </p:nvSpPr>
        <p:spPr>
          <a:xfrm>
            <a:off x="868680" y="2834640"/>
            <a:ext cx="2834640" cy="914400"/>
          </a:xfrm>
          <a:prstGeom prst="rect">
            <a:avLst/>
          </a:prstGeom>
          <a:noFill/>
          <a:ln/>
        </p:spPr>
        <p:txBody>
          <a:bodyPr wrap="square" lIns="0" tIns="0" rIns="0" bIns="0" rtlCol="0" anchor="t"/>
          <a:lstStyle/>
          <a:p>
            <a:pPr indent="0" marL="0">
              <a:buNone/>
            </a:pPr>
            <a:r>
              <a:rPr lang="en-US" sz="4400" b="1" dirty="0">
                <a:solidFill>
                  <a:srgbClr val="9A5B0C"/>
                </a:solidFill>
                <a:latin typeface="Arial" pitchFamily="34" charset="0"/>
                <a:ea typeface="Arial" pitchFamily="34" charset="-122"/>
                <a:cs typeface="Arial" pitchFamily="34" charset="-120"/>
              </a:rPr>
              <a:t>~130,000</a:t>
            </a:r>
            <a:endParaRPr lang="en-US" sz="4400" dirty="0"/>
          </a:p>
        </p:txBody>
      </p:sp>
      <p:sp>
        <p:nvSpPr>
          <p:cNvPr id="7" name="Stat 1 label"/>
          <p:cNvSpPr txBox="1"/>
          <p:nvPr/>
        </p:nvSpPr>
        <p:spPr>
          <a:xfrm>
            <a:off x="868680" y="3749040"/>
            <a:ext cx="2834640" cy="1280160"/>
          </a:xfrm>
          <a:prstGeom prst="rect">
            <a:avLst/>
          </a:prstGeom>
          <a:noFill/>
          <a:ln/>
        </p:spPr>
        <p:txBody>
          <a:bodyPr wrap="square" lIns="0" tIns="0" rIns="0" bIns="0" rtlCol="0" anchor="t"/>
          <a:lstStyle/>
          <a:p>
            <a:pPr indent="0" marL="0">
              <a:buNone/>
            </a:pPr>
            <a:r>
              <a:rPr lang="en-US" sz="1800" dirty="0">
                <a:solidFill>
                  <a:srgbClr val="4A544F"/>
                </a:solidFill>
                <a:latin typeface="Calibri" pitchFamily="34" charset="0"/>
                <a:ea typeface="Calibri" pitchFamily="34" charset="-122"/>
                <a:cs typeface="Calibri" pitchFamily="34" charset="-120"/>
              </a:rPr>
              <a:t>second-hand vehicles imported into Kenya every year</a:t>
            </a:r>
            <a:endParaRPr lang="en-US" sz="1800" dirty="0"/>
          </a:p>
        </p:txBody>
      </p:sp>
      <p:sp>
        <p:nvSpPr>
          <p:cNvPr id="8" name="Stat 2 card"/>
          <p:cNvSpPr/>
          <p:nvPr/>
        </p:nvSpPr>
        <p:spPr>
          <a:xfrm>
            <a:off x="4370832" y="2514600"/>
            <a:ext cx="3447288" cy="3017520"/>
          </a:xfrm>
          <a:prstGeom prst="roundRect">
            <a:avLst>
              <a:gd name="adj" fmla="val 3636"/>
            </a:avLst>
          </a:prstGeom>
          <a:solidFill>
            <a:srgbClr val="FBF9F3"/>
          </a:solidFill>
          <a:ln w="12700">
            <a:solidFill>
              <a:srgbClr val="E9E3D4"/>
            </a:solidFill>
            <a:prstDash val="solid"/>
          </a:ln>
        </p:spPr>
      </p:sp>
      <p:sp>
        <p:nvSpPr>
          <p:cNvPr id="9" name="Stat 2 value"/>
          <p:cNvSpPr txBox="1"/>
          <p:nvPr/>
        </p:nvSpPr>
        <p:spPr>
          <a:xfrm>
            <a:off x="4690872" y="2834640"/>
            <a:ext cx="2834640" cy="914400"/>
          </a:xfrm>
          <a:prstGeom prst="rect">
            <a:avLst/>
          </a:prstGeom>
          <a:noFill/>
          <a:ln/>
        </p:spPr>
        <p:txBody>
          <a:bodyPr wrap="square" lIns="0" tIns="0" rIns="0" bIns="0" rtlCol="0" anchor="t"/>
          <a:lstStyle/>
          <a:p>
            <a:pPr indent="0" marL="0">
              <a:buNone/>
            </a:pPr>
            <a:r>
              <a:rPr lang="en-US" sz="4400" b="1" dirty="0">
                <a:solidFill>
                  <a:srgbClr val="9A5B0C"/>
                </a:solidFill>
                <a:latin typeface="Arial" pitchFamily="34" charset="0"/>
                <a:ea typeface="Arial" pitchFamily="34" charset="-122"/>
                <a:cs typeface="Arial" pitchFamily="34" charset="-120"/>
              </a:rPr>
              <a:t>85%+</a:t>
            </a:r>
            <a:endParaRPr lang="en-US" sz="4400" dirty="0"/>
          </a:p>
        </p:txBody>
      </p:sp>
      <p:sp>
        <p:nvSpPr>
          <p:cNvPr id="10" name="Stat 2 label"/>
          <p:cNvSpPr txBox="1"/>
          <p:nvPr/>
        </p:nvSpPr>
        <p:spPr>
          <a:xfrm>
            <a:off x="4690872" y="3749040"/>
            <a:ext cx="2834640" cy="1280160"/>
          </a:xfrm>
          <a:prstGeom prst="rect">
            <a:avLst/>
          </a:prstGeom>
          <a:noFill/>
          <a:ln/>
        </p:spPr>
        <p:txBody>
          <a:bodyPr wrap="square" lIns="0" tIns="0" rIns="0" bIns="0" rtlCol="0" anchor="t"/>
          <a:lstStyle/>
          <a:p>
            <a:pPr indent="0" marL="0">
              <a:buNone/>
            </a:pPr>
            <a:r>
              <a:rPr lang="en-US" sz="1800" dirty="0">
                <a:solidFill>
                  <a:srgbClr val="4A544F"/>
                </a:solidFill>
                <a:latin typeface="Calibri" pitchFamily="34" charset="0"/>
                <a:ea typeface="Calibri" pitchFamily="34" charset="-122"/>
                <a:cs typeface="Calibri" pitchFamily="34" charset="-120"/>
              </a:rPr>
              <a:t>of Kenya’s car market is used vehicles</a:t>
            </a:r>
            <a:endParaRPr lang="en-US" sz="1800" dirty="0"/>
          </a:p>
        </p:txBody>
      </p:sp>
      <p:sp>
        <p:nvSpPr>
          <p:cNvPr id="11" name="Stat 3 card"/>
          <p:cNvSpPr/>
          <p:nvPr/>
        </p:nvSpPr>
        <p:spPr>
          <a:xfrm>
            <a:off x="8193024" y="2514600"/>
            <a:ext cx="3447288" cy="3017520"/>
          </a:xfrm>
          <a:prstGeom prst="roundRect">
            <a:avLst>
              <a:gd name="adj" fmla="val 3636"/>
            </a:avLst>
          </a:prstGeom>
          <a:solidFill>
            <a:srgbClr val="FBF9F3"/>
          </a:solidFill>
          <a:ln w="12700">
            <a:solidFill>
              <a:srgbClr val="E9E3D4"/>
            </a:solidFill>
            <a:prstDash val="solid"/>
          </a:ln>
        </p:spPr>
      </p:sp>
      <p:sp>
        <p:nvSpPr>
          <p:cNvPr id="12" name="Stat 3 value"/>
          <p:cNvSpPr txBox="1"/>
          <p:nvPr/>
        </p:nvSpPr>
        <p:spPr>
          <a:xfrm>
            <a:off x="8513064" y="2834640"/>
            <a:ext cx="2834640" cy="914400"/>
          </a:xfrm>
          <a:prstGeom prst="rect">
            <a:avLst/>
          </a:prstGeom>
          <a:noFill/>
          <a:ln/>
        </p:spPr>
        <p:txBody>
          <a:bodyPr wrap="square" lIns="0" tIns="0" rIns="0" bIns="0" rtlCol="0" anchor="t"/>
          <a:lstStyle/>
          <a:p>
            <a:pPr indent="0" marL="0">
              <a:buNone/>
            </a:pPr>
            <a:r>
              <a:rPr lang="en-US" sz="4400" b="1" dirty="0">
                <a:solidFill>
                  <a:srgbClr val="9A5B0C"/>
                </a:solidFill>
                <a:latin typeface="Arial" pitchFamily="34" charset="0"/>
                <a:ea typeface="Arial" pitchFamily="34" charset="-122"/>
                <a:cs typeface="Arial" pitchFamily="34" charset="-120"/>
              </a:rPr>
              <a:t>US$1.28B</a:t>
            </a:r>
            <a:endParaRPr lang="en-US" sz="4400" dirty="0"/>
          </a:p>
        </p:txBody>
      </p:sp>
      <p:sp>
        <p:nvSpPr>
          <p:cNvPr id="13" name="Stat 3 label"/>
          <p:cNvSpPr txBox="1"/>
          <p:nvPr/>
        </p:nvSpPr>
        <p:spPr>
          <a:xfrm>
            <a:off x="8513064" y="3749040"/>
            <a:ext cx="2834640" cy="1280160"/>
          </a:xfrm>
          <a:prstGeom prst="rect">
            <a:avLst/>
          </a:prstGeom>
          <a:noFill/>
          <a:ln/>
        </p:spPr>
        <p:txBody>
          <a:bodyPr wrap="square" lIns="0" tIns="0" rIns="0" bIns="0" rtlCol="0" anchor="t"/>
          <a:lstStyle/>
          <a:p>
            <a:pPr indent="0" marL="0">
              <a:buNone/>
            </a:pPr>
            <a:r>
              <a:rPr lang="en-US" sz="1800" dirty="0">
                <a:solidFill>
                  <a:srgbClr val="4A544F"/>
                </a:solidFill>
                <a:latin typeface="Calibri" pitchFamily="34" charset="0"/>
                <a:ea typeface="Calibri" pitchFamily="34" charset="-122"/>
                <a:cs typeface="Calibri" pitchFamily="34" charset="-120"/>
              </a:rPr>
              <a:t>used-car market value in 2025, forecast US$1.54B by 2031</a:t>
            </a:r>
            <a:endParaRPr lang="en-US" sz="18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9A5B0C"/>
                </a:solidFill>
                <a:latin typeface="Calibri" pitchFamily="34" charset="0"/>
                <a:ea typeface="Calibri" pitchFamily="34" charset="-122"/>
                <a:cs typeface="Calibri" pitchFamily="34" charset="-120"/>
              </a:rPr>
              <a:t>THE PROBLEM</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14211D"/>
                </a:solidFill>
                <a:latin typeface="Arial" pitchFamily="34" charset="0"/>
                <a:ea typeface="Arial" pitchFamily="34" charset="-122"/>
                <a:cs typeface="Arial" pitchFamily="34" charset="-120"/>
              </a:rPr>
              <a:t>What a buyer cannot check today</a:t>
            </a:r>
            <a:endParaRPr lang="en-US" sz="3600" dirty="0"/>
          </a:p>
        </p:txBody>
      </p:sp>
      <p:sp>
        <p:nvSpPr>
          <p:cNvPr id="4"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r>
              <a:rPr lang="en-US" sz="1100" dirty="0">
                <a:solidFill>
                  <a:srgbClr val="4A544F"/>
                </a:solidFill>
                <a:latin typeface="Calibri" pitchFamily="34" charset="0"/>
                <a:ea typeface="Calibri" pitchFamily="34" charset="-122"/>
                <a:cs typeface="Calibri" pitchFamily="34" charset="-120"/>
              </a:rPr>
              <a:t>Sources: Techish Kenya (Feb 2026) on the QISJ paywall; Kenyans.co.ke and Daily Nation on logbook and mileage fraud</a:t>
            </a:r>
            <a:endParaRPr lang="en-US" sz="1100" dirty="0"/>
          </a:p>
        </p:txBody>
      </p:sp>
      <p:sp>
        <p:nvSpPr>
          <p:cNvPr id="5" name="Mileage card"/>
          <p:cNvSpPr/>
          <p:nvPr/>
        </p:nvSpPr>
        <p:spPr>
          <a:xfrm>
            <a:off x="548640" y="2331720"/>
            <a:ext cx="3447288" cy="3520440"/>
          </a:xfrm>
          <a:prstGeom prst="roundRect">
            <a:avLst>
              <a:gd name="adj" fmla="val 3183"/>
            </a:avLst>
          </a:prstGeom>
          <a:solidFill>
            <a:srgbClr val="E9E3D4"/>
          </a:solidFill>
          <a:ln w="12700">
            <a:solidFill>
              <a:srgbClr val="E9E3D4"/>
            </a:solidFill>
            <a:prstDash val="solid"/>
          </a:ln>
        </p:spPr>
      </p:sp>
      <p:sp>
        <p:nvSpPr>
          <p:cNvPr id="6" name="Mileage circle"/>
          <p:cNvSpPr/>
          <p:nvPr/>
        </p:nvSpPr>
        <p:spPr>
          <a:xfrm>
            <a:off x="868680" y="2651760"/>
            <a:ext cx="640080" cy="640080"/>
          </a:xfrm>
          <a:prstGeom prst="ellipse">
            <a:avLst/>
          </a:prstGeom>
          <a:solidFill>
            <a:srgbClr val="E9A23B"/>
          </a:solidFill>
          <a:ln w="12700">
            <a:solidFill>
              <a:srgbClr val="E9A23B"/>
            </a:solidFill>
            <a:prstDash val="solid"/>
          </a:ln>
        </p:spPr>
      </p:sp>
      <p:sp>
        <p:nvSpPr>
          <p:cNvPr id="7" name="Mileage label"/>
          <p:cNvSpPr txBox="1"/>
          <p:nvPr/>
        </p:nvSpPr>
        <p:spPr>
          <a:xfrm>
            <a:off x="868680"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01</a:t>
            </a:r>
            <a:endParaRPr lang="en-US" sz="1600" dirty="0"/>
          </a:p>
        </p:txBody>
      </p:sp>
      <p:sp>
        <p:nvSpPr>
          <p:cNvPr id="8" name="Mileage title"/>
          <p:cNvSpPr txBox="1"/>
          <p:nvPr/>
        </p:nvSpPr>
        <p:spPr>
          <a:xfrm>
            <a:off x="868680" y="3474720"/>
            <a:ext cx="283464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Mileage</a:t>
            </a:r>
            <a:endParaRPr lang="en-US" sz="2200" dirty="0"/>
          </a:p>
        </p:txBody>
      </p:sp>
      <p:sp>
        <p:nvSpPr>
          <p:cNvPr id="9" name="Mileage text"/>
          <p:cNvSpPr txBox="1"/>
          <p:nvPr/>
        </p:nvSpPr>
        <p:spPr>
          <a:xfrm>
            <a:off x="868680" y="4069080"/>
            <a:ext cx="2834640" cy="164592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Odometers get rolled back. In 2026 the main free check on Japanese export mileage went behind a paywall.</a:t>
            </a:r>
            <a:endParaRPr lang="en-US" sz="1600" dirty="0"/>
          </a:p>
        </p:txBody>
      </p:sp>
      <p:sp>
        <p:nvSpPr>
          <p:cNvPr id="10" name="Maintenance card"/>
          <p:cNvSpPr/>
          <p:nvPr/>
        </p:nvSpPr>
        <p:spPr>
          <a:xfrm>
            <a:off x="4370832" y="2331720"/>
            <a:ext cx="3447288" cy="3520440"/>
          </a:xfrm>
          <a:prstGeom prst="roundRect">
            <a:avLst>
              <a:gd name="adj" fmla="val 3183"/>
            </a:avLst>
          </a:prstGeom>
          <a:solidFill>
            <a:srgbClr val="E9E3D4"/>
          </a:solidFill>
          <a:ln w="12700">
            <a:solidFill>
              <a:srgbClr val="E9E3D4"/>
            </a:solidFill>
            <a:prstDash val="solid"/>
          </a:ln>
        </p:spPr>
      </p:sp>
      <p:sp>
        <p:nvSpPr>
          <p:cNvPr id="11" name="Maintenance circle"/>
          <p:cNvSpPr/>
          <p:nvPr/>
        </p:nvSpPr>
        <p:spPr>
          <a:xfrm>
            <a:off x="4690872" y="2651760"/>
            <a:ext cx="640080" cy="640080"/>
          </a:xfrm>
          <a:prstGeom prst="ellipse">
            <a:avLst/>
          </a:prstGeom>
          <a:solidFill>
            <a:srgbClr val="E9A23B"/>
          </a:solidFill>
          <a:ln w="12700">
            <a:solidFill>
              <a:srgbClr val="E9A23B"/>
            </a:solidFill>
            <a:prstDash val="solid"/>
          </a:ln>
        </p:spPr>
      </p:sp>
      <p:sp>
        <p:nvSpPr>
          <p:cNvPr id="12" name="Maintenance label"/>
          <p:cNvSpPr txBox="1"/>
          <p:nvPr/>
        </p:nvSpPr>
        <p:spPr>
          <a:xfrm>
            <a:off x="4690872"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02</a:t>
            </a:r>
            <a:endParaRPr lang="en-US" sz="1600" dirty="0"/>
          </a:p>
        </p:txBody>
      </p:sp>
      <p:sp>
        <p:nvSpPr>
          <p:cNvPr id="13" name="Maintenance title"/>
          <p:cNvSpPr txBox="1"/>
          <p:nvPr/>
        </p:nvSpPr>
        <p:spPr>
          <a:xfrm>
            <a:off x="4690872" y="3474720"/>
            <a:ext cx="283464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Maintenance</a:t>
            </a:r>
            <a:endParaRPr lang="en-US" sz="2200" dirty="0"/>
          </a:p>
        </p:txBody>
      </p:sp>
      <p:sp>
        <p:nvSpPr>
          <p:cNvPr id="14" name="Maintenance text"/>
          <p:cNvSpPr txBox="1"/>
          <p:nvPr/>
        </p:nvSpPr>
        <p:spPr>
          <a:xfrm>
            <a:off x="4690872" y="4069080"/>
            <a:ext cx="2834640" cy="164592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Service books are lost, half-stamped or faked. Receipts fade in the glovebox. Garages keep their own records.</a:t>
            </a:r>
            <a:endParaRPr lang="en-US" sz="1600" dirty="0"/>
          </a:p>
        </p:txBody>
      </p:sp>
      <p:sp>
        <p:nvSpPr>
          <p:cNvPr id="15" name="Ownership card"/>
          <p:cNvSpPr/>
          <p:nvPr/>
        </p:nvSpPr>
        <p:spPr>
          <a:xfrm>
            <a:off x="8193024" y="2331720"/>
            <a:ext cx="3447288" cy="3520440"/>
          </a:xfrm>
          <a:prstGeom prst="roundRect">
            <a:avLst>
              <a:gd name="adj" fmla="val 3183"/>
            </a:avLst>
          </a:prstGeom>
          <a:solidFill>
            <a:srgbClr val="E9E3D4"/>
          </a:solidFill>
          <a:ln w="12700">
            <a:solidFill>
              <a:srgbClr val="E9E3D4"/>
            </a:solidFill>
            <a:prstDash val="solid"/>
          </a:ln>
        </p:spPr>
      </p:sp>
      <p:sp>
        <p:nvSpPr>
          <p:cNvPr id="16" name="Ownership circle"/>
          <p:cNvSpPr/>
          <p:nvPr/>
        </p:nvSpPr>
        <p:spPr>
          <a:xfrm>
            <a:off x="8513064" y="2651760"/>
            <a:ext cx="640080" cy="640080"/>
          </a:xfrm>
          <a:prstGeom prst="ellipse">
            <a:avLst/>
          </a:prstGeom>
          <a:solidFill>
            <a:srgbClr val="E9A23B"/>
          </a:solidFill>
          <a:ln w="12700">
            <a:solidFill>
              <a:srgbClr val="E9A23B"/>
            </a:solidFill>
            <a:prstDash val="solid"/>
          </a:ln>
        </p:spPr>
      </p:sp>
      <p:sp>
        <p:nvSpPr>
          <p:cNvPr id="17" name="Ownership label"/>
          <p:cNvSpPr txBox="1"/>
          <p:nvPr/>
        </p:nvSpPr>
        <p:spPr>
          <a:xfrm>
            <a:off x="8513064"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03</a:t>
            </a:r>
            <a:endParaRPr lang="en-US" sz="1600" dirty="0"/>
          </a:p>
        </p:txBody>
      </p:sp>
      <p:sp>
        <p:nvSpPr>
          <p:cNvPr id="18" name="Ownership title"/>
          <p:cNvSpPr txBox="1"/>
          <p:nvPr/>
        </p:nvSpPr>
        <p:spPr>
          <a:xfrm>
            <a:off x="8513064" y="3474720"/>
            <a:ext cx="283464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Ownership</a:t>
            </a:r>
            <a:endParaRPr lang="en-US" sz="2200" dirty="0"/>
          </a:p>
        </p:txBody>
      </p:sp>
      <p:sp>
        <p:nvSpPr>
          <p:cNvPr id="19" name="Ownership text"/>
          <p:cNvSpPr txBox="1"/>
          <p:nvPr/>
        </p:nvSpPr>
        <p:spPr>
          <a:xfrm>
            <a:off x="8513064" y="4069080"/>
            <a:ext cx="2834640" cy="164592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Chassis cloning and imitation logbooks leave even a car’s identity in doubt.</a:t>
            </a:r>
            <a:endParaRPr lang="en-US" sz="16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E9A23B"/>
                </a:solidFill>
                <a:latin typeface="Calibri" pitchFamily="34" charset="0"/>
                <a:ea typeface="Calibri" pitchFamily="34" charset="-122"/>
                <a:cs typeface="Calibri" pitchFamily="34" charset="-120"/>
              </a:rPr>
              <a:t>THE INSIGHT</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F4F0E6"/>
                </a:solidFill>
                <a:latin typeface="Arial" pitchFamily="34" charset="0"/>
                <a:ea typeface="Arial" pitchFamily="34" charset="-122"/>
                <a:cs typeface="Arial" pitchFamily="34" charset="-120"/>
              </a:rPr>
              <a:t>Kenyans already pay to trace a car’s past</a:t>
            </a:r>
            <a:endParaRPr lang="en-US" sz="3600" dirty="0"/>
          </a:p>
        </p:txBody>
      </p:sp>
      <p:sp>
        <p:nvSpPr>
          <p:cNvPr id="4"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r>
              <a:rPr lang="en-US" sz="1100" dirty="0">
                <a:solidFill>
                  <a:srgbClr val="C9D3CC"/>
                </a:solidFill>
                <a:latin typeface="Calibri" pitchFamily="34" charset="0"/>
                <a:ea typeface="Calibri" pitchFamily="34" charset="-122"/>
                <a:cs typeface="Calibri" pitchFamily="34" charset="-120"/>
              </a:rPr>
              <a:t>Sources: NTSA via Kenyans.co.ke (copy of records fee); Techish Kenya, February 2026 (QISJ fee)</a:t>
            </a:r>
            <a:endParaRPr lang="en-US" sz="1100" dirty="0"/>
          </a:p>
        </p:txBody>
      </p:sp>
      <p:sp>
        <p:nvSpPr>
          <p:cNvPr id="5" name="Check 1 price"/>
          <p:cNvSpPr txBox="1"/>
          <p:nvPr/>
        </p:nvSpPr>
        <p:spPr>
          <a:xfrm>
            <a:off x="548640" y="2377440"/>
            <a:ext cx="3447288" cy="914400"/>
          </a:xfrm>
          <a:prstGeom prst="rect">
            <a:avLst/>
          </a:prstGeom>
          <a:noFill/>
          <a:ln/>
        </p:spPr>
        <p:txBody>
          <a:bodyPr wrap="square" lIns="0" tIns="0" rIns="0" bIns="0" rtlCol="0" anchor="t"/>
          <a:lstStyle/>
          <a:p>
            <a:pPr indent="0" marL="0">
              <a:buNone/>
            </a:pPr>
            <a:r>
              <a:rPr lang="en-US" sz="4800" b="1" dirty="0">
                <a:solidFill>
                  <a:srgbClr val="E9A23B"/>
                </a:solidFill>
                <a:latin typeface="Arial" pitchFamily="34" charset="0"/>
                <a:ea typeface="Arial" pitchFamily="34" charset="-122"/>
                <a:cs typeface="Arial" pitchFamily="34" charset="-120"/>
              </a:rPr>
              <a:t>KES 550</a:t>
            </a:r>
            <a:endParaRPr lang="en-US" sz="4800" dirty="0"/>
          </a:p>
        </p:txBody>
      </p:sp>
      <p:sp>
        <p:nvSpPr>
          <p:cNvPr id="6" name="Check 1 label"/>
          <p:cNvSpPr txBox="1"/>
          <p:nvPr/>
        </p:nvSpPr>
        <p:spPr>
          <a:xfrm>
            <a:off x="548640" y="3383280"/>
            <a:ext cx="3200400" cy="914400"/>
          </a:xfrm>
          <a:prstGeom prst="rect">
            <a:avLst/>
          </a:prstGeom>
          <a:noFill/>
          <a:ln/>
        </p:spPr>
        <p:txBody>
          <a:bodyPr wrap="square" lIns="0" tIns="0" rIns="0" bIns="0" rtlCol="0" anchor="t"/>
          <a:lstStyle/>
          <a:p>
            <a:pPr indent="0" marL="0">
              <a:buNone/>
            </a:pPr>
            <a:r>
              <a:rPr lang="en-US" sz="1800" dirty="0">
                <a:solidFill>
                  <a:srgbClr val="F4F0E6"/>
                </a:solidFill>
                <a:latin typeface="Calibri" pitchFamily="34" charset="0"/>
                <a:ea typeface="Calibri" pitchFamily="34" charset="-122"/>
                <a:cs typeface="Calibri" pitchFamily="34" charset="-120"/>
              </a:rPr>
              <a:t>NTSA copy of records: who is registered as owner</a:t>
            </a:r>
            <a:endParaRPr lang="en-US" sz="1800" dirty="0"/>
          </a:p>
        </p:txBody>
      </p:sp>
      <p:sp>
        <p:nvSpPr>
          <p:cNvPr id="7" name="Check 2 price"/>
          <p:cNvSpPr txBox="1"/>
          <p:nvPr/>
        </p:nvSpPr>
        <p:spPr>
          <a:xfrm>
            <a:off x="4370832" y="2377440"/>
            <a:ext cx="3447288" cy="914400"/>
          </a:xfrm>
          <a:prstGeom prst="rect">
            <a:avLst/>
          </a:prstGeom>
          <a:noFill/>
          <a:ln/>
        </p:spPr>
        <p:txBody>
          <a:bodyPr wrap="square" lIns="0" tIns="0" rIns="0" bIns="0" rtlCol="0" anchor="t"/>
          <a:lstStyle/>
          <a:p>
            <a:pPr indent="0" marL="0">
              <a:buNone/>
            </a:pPr>
            <a:r>
              <a:rPr lang="en-US" sz="4800" b="1" dirty="0">
                <a:solidFill>
                  <a:srgbClr val="E9A23B"/>
                </a:solidFill>
                <a:latin typeface="Arial" pitchFamily="34" charset="0"/>
                <a:ea typeface="Arial" pitchFamily="34" charset="-122"/>
                <a:cs typeface="Arial" pitchFamily="34" charset="-120"/>
              </a:rPr>
              <a:t>KES 500</a:t>
            </a:r>
            <a:endParaRPr lang="en-US" sz="4800" dirty="0"/>
          </a:p>
        </p:txBody>
      </p:sp>
      <p:sp>
        <p:nvSpPr>
          <p:cNvPr id="8" name="Check 2 label"/>
          <p:cNvSpPr txBox="1"/>
          <p:nvPr/>
        </p:nvSpPr>
        <p:spPr>
          <a:xfrm>
            <a:off x="4370832" y="3383280"/>
            <a:ext cx="3200400" cy="914400"/>
          </a:xfrm>
          <a:prstGeom prst="rect">
            <a:avLst/>
          </a:prstGeom>
          <a:noFill/>
          <a:ln/>
        </p:spPr>
        <p:txBody>
          <a:bodyPr wrap="square" lIns="0" tIns="0" rIns="0" bIns="0" rtlCol="0" anchor="t"/>
          <a:lstStyle/>
          <a:p>
            <a:pPr indent="0" marL="0">
              <a:buNone/>
            </a:pPr>
            <a:r>
              <a:rPr lang="en-US" sz="1800" dirty="0">
                <a:solidFill>
                  <a:srgbClr val="F4F0E6"/>
                </a:solidFill>
                <a:latin typeface="Calibri" pitchFamily="34" charset="0"/>
                <a:ea typeface="Calibri" pitchFamily="34" charset="-122"/>
                <a:cs typeface="Calibri" pitchFamily="34" charset="-120"/>
              </a:rPr>
              <a:t>QISJ check: mileage when the car left Japan</a:t>
            </a:r>
            <a:endParaRPr lang="en-US" sz="1800" dirty="0"/>
          </a:p>
        </p:txBody>
      </p:sp>
      <p:sp>
        <p:nvSpPr>
          <p:cNvPr id="9" name="Check 3 price"/>
          <p:cNvSpPr txBox="1"/>
          <p:nvPr/>
        </p:nvSpPr>
        <p:spPr>
          <a:xfrm>
            <a:off x="8193024" y="2377440"/>
            <a:ext cx="3447288" cy="914400"/>
          </a:xfrm>
          <a:prstGeom prst="rect">
            <a:avLst/>
          </a:prstGeom>
          <a:noFill/>
          <a:ln/>
        </p:spPr>
        <p:txBody>
          <a:bodyPr wrap="square" lIns="0" tIns="0" rIns="0" bIns="0" rtlCol="0" anchor="t"/>
          <a:lstStyle/>
          <a:p>
            <a:pPr indent="0" marL="0">
              <a:buNone/>
            </a:pPr>
            <a:r>
              <a:rPr lang="en-US" sz="4800" b="1" dirty="0">
                <a:solidFill>
                  <a:srgbClr val="E9A23B"/>
                </a:solidFill>
                <a:latin typeface="Arial" pitchFamily="34" charset="0"/>
                <a:ea typeface="Arial" pitchFamily="34" charset="-122"/>
                <a:cs typeface="Arial" pitchFamily="34" charset="-120"/>
              </a:rPr>
              <a:t>KES 0</a:t>
            </a:r>
            <a:endParaRPr lang="en-US" sz="4800" dirty="0"/>
          </a:p>
        </p:txBody>
      </p:sp>
      <p:sp>
        <p:nvSpPr>
          <p:cNvPr id="10" name="Check 3 label"/>
          <p:cNvSpPr txBox="1"/>
          <p:nvPr/>
        </p:nvSpPr>
        <p:spPr>
          <a:xfrm>
            <a:off x="8193024" y="3383280"/>
            <a:ext cx="3200400" cy="914400"/>
          </a:xfrm>
          <a:prstGeom prst="rect">
            <a:avLst/>
          </a:prstGeom>
          <a:noFill/>
          <a:ln/>
        </p:spPr>
        <p:txBody>
          <a:bodyPr wrap="square" lIns="0" tIns="0" rIns="0" bIns="0" rtlCol="0" anchor="t"/>
          <a:lstStyle/>
          <a:p>
            <a:pPr indent="0" marL="0">
              <a:buNone/>
            </a:pPr>
            <a:r>
              <a:rPr lang="en-US" sz="1800" dirty="0">
                <a:solidFill>
                  <a:srgbClr val="F4F0E6"/>
                </a:solidFill>
                <a:latin typeface="Calibri" pitchFamily="34" charset="0"/>
                <a:ea typeface="Calibri" pitchFamily="34" charset="-122"/>
                <a:cs typeface="Calibri" pitchFamily="34" charset="-120"/>
              </a:rPr>
              <a:t>buys the service history since it arrived in Kenya</a:t>
            </a:r>
            <a:endParaRPr lang="en-US" sz="1800" dirty="0"/>
          </a:p>
        </p:txBody>
      </p:sp>
      <p:sp>
        <p:nvSpPr>
          <p:cNvPr id="11" name="Divider"/>
          <p:cNvSpPr/>
          <p:nvPr/>
        </p:nvSpPr>
        <p:spPr>
          <a:xfrm>
            <a:off x="548640" y="4617720"/>
            <a:ext cx="11091672" cy="0"/>
          </a:xfrm>
          <a:prstGeom prst="line">
            <a:avLst/>
          </a:prstGeom>
          <a:noFill/>
          <a:ln w="12700">
            <a:solidFill>
              <a:srgbClr val="3A4A44"/>
            </a:solidFill>
            <a:prstDash val="solid"/>
          </a:ln>
        </p:spPr>
      </p:sp>
      <p:sp>
        <p:nvSpPr>
          <p:cNvPr id="12" name="Insight"/>
          <p:cNvSpPr txBox="1"/>
          <p:nvPr/>
        </p:nvSpPr>
        <p:spPr>
          <a:xfrm>
            <a:off x="548640" y="4846320"/>
            <a:ext cx="10515600" cy="1097280"/>
          </a:xfrm>
          <a:prstGeom prst="rect">
            <a:avLst/>
          </a:prstGeom>
          <a:noFill/>
          <a:ln/>
        </p:spPr>
        <p:txBody>
          <a:bodyPr wrap="square" lIns="0" tIns="0" rIns="0" bIns="0" rtlCol="0" anchor="t"/>
          <a:lstStyle/>
          <a:p>
            <a:pPr indent="0" marL="0">
              <a:buNone/>
            </a:pPr>
            <a:r>
              <a:rPr lang="en-US" sz="2000" i="1" dirty="0">
                <a:solidFill>
                  <a:srgbClr val="C9D3CC"/>
                </a:solidFill>
                <a:latin typeface="Calibri" pitchFamily="34" charset="0"/>
                <a:ea typeface="Calibri" pitchFamily="34" charset="-122"/>
                <a:cs typeface="Calibri" pitchFamily="34" charset="-120"/>
              </a:rPr>
              <a:t>“Full service history” is the line sellers lead with and buyers proudly repeat. No check can confirm it today. Smartmoti makes it proof.</a:t>
            </a:r>
            <a:endParaRPr lang="en-US" sz="20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D3C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1005840"/>
            <a:ext cx="11091672" cy="365760"/>
          </a:xfrm>
          <a:prstGeom prst="rect">
            <a:avLst/>
          </a:prstGeom>
          <a:noFill/>
          <a:ln/>
        </p:spPr>
        <p:txBody>
          <a:bodyPr wrap="square" lIns="0" tIns="0" rIns="0" bIns="0" rtlCol="0" anchor="t"/>
          <a:lstStyle/>
          <a:p>
            <a:pPr indent="0" marL="0">
              <a:buNone/>
            </a:pPr>
            <a:r>
              <a:rPr lang="en-US" sz="1400" b="1" spc="300" kern="0" dirty="0">
                <a:solidFill>
                  <a:srgbClr val="14211D"/>
                </a:solidFill>
                <a:latin typeface="Calibri" pitchFamily="34" charset="0"/>
                <a:ea typeface="Calibri" pitchFamily="34" charset="-122"/>
                <a:cs typeface="Calibri" pitchFamily="34" charset="-120"/>
              </a:rPr>
              <a:t>THE SOLUTION</a:t>
            </a:r>
            <a:endParaRPr lang="en-US" sz="1400" dirty="0"/>
          </a:p>
        </p:txBody>
      </p:sp>
      <p:sp>
        <p:nvSpPr>
          <p:cNvPr id="3" name="Solution statement"/>
          <p:cNvSpPr txBox="1"/>
          <p:nvPr/>
        </p:nvSpPr>
        <p:spPr>
          <a:xfrm>
            <a:off x="548640" y="1600200"/>
            <a:ext cx="10607040" cy="3291840"/>
          </a:xfrm>
          <a:prstGeom prst="rect">
            <a:avLst/>
          </a:prstGeom>
          <a:noFill/>
          <a:ln/>
        </p:spPr>
        <p:txBody>
          <a:bodyPr wrap="square" lIns="0" tIns="0" rIns="0" bIns="0" rtlCol="0" anchor="t"/>
          <a:lstStyle/>
          <a:p>
            <a:pPr indent="0" marL="0">
              <a:lnSpc>
                <a:spcPct val="115000"/>
              </a:lnSpc>
              <a:buNone/>
            </a:pPr>
            <a:r>
              <a:rPr lang="en-US" sz="3200" dirty="0">
                <a:solidFill>
                  <a:srgbClr val="14211D"/>
                </a:solidFill>
                <a:latin typeface="Arial" pitchFamily="34" charset="0"/>
                <a:ea typeface="Arial" pitchFamily="34" charset="-122"/>
                <a:cs typeface="Arial" pitchFamily="34" charset="-120"/>
              </a:rPr>
              <a:t>Smartmoti gives every vehicle a </a:t>
            </a:r>
            <a:pPr indent="0" marL="0">
              <a:lnSpc>
                <a:spcPct val="115000"/>
              </a:lnSpc>
              <a:buNone/>
            </a:pPr>
            <a:r>
              <a:rPr lang="en-US" sz="3200" b="1" dirty="0">
                <a:solidFill>
                  <a:srgbClr val="14211D"/>
                </a:solidFill>
                <a:latin typeface="Arial" pitchFamily="34" charset="0"/>
                <a:ea typeface="Arial" pitchFamily="34" charset="-122"/>
                <a:cs typeface="Arial" pitchFamily="34" charset="-120"/>
              </a:rPr>
              <a:t>lifetime passport</a:t>
            </a:r>
            <a:pPr indent="0" marL="0">
              <a:lnSpc>
                <a:spcPct val="115000"/>
              </a:lnSpc>
              <a:buNone/>
            </a:pPr>
            <a:r>
              <a:rPr lang="en-US" sz="3200" dirty="0">
                <a:solidFill>
                  <a:srgbClr val="14211D"/>
                </a:solidFill>
                <a:latin typeface="Arial" pitchFamily="34" charset="0"/>
                <a:ea typeface="Arial" pitchFamily="34" charset="-122"/>
                <a:cs typeface="Arial" pitchFamily="34" charset="-120"/>
              </a:rPr>
              <a:t>: every service, repair, inspection, mileage reading and change of owner, recorded as it happens and backed by receipts. The history buyers brag about becomes a history sellers can prove.</a:t>
            </a:r>
            <a:endParaRPr lang="en-US" sz="3200" dirty="0"/>
          </a:p>
        </p:txBody>
      </p:sp>
      <p:sp>
        <p:nvSpPr>
          <p:cNvPr id="4" name="Tagline"/>
          <p:cNvSpPr txBox="1"/>
          <p:nvPr/>
        </p:nvSpPr>
        <p:spPr>
          <a:xfrm>
            <a:off x="548640" y="5257800"/>
            <a:ext cx="11091672" cy="457200"/>
          </a:xfrm>
          <a:prstGeom prst="rect">
            <a:avLst/>
          </a:prstGeom>
          <a:noFill/>
          <a:ln/>
        </p:spPr>
        <p:txBody>
          <a:bodyPr wrap="square" lIns="0" tIns="0" rIns="0" bIns="0" rtlCol="0" anchor="t"/>
          <a:lstStyle/>
          <a:p>
            <a:pPr indent="0" marL="0">
              <a:buNone/>
            </a:pPr>
            <a:r>
              <a:rPr lang="en-US" sz="1800" b="1" dirty="0">
                <a:solidFill>
                  <a:srgbClr val="14211D"/>
                </a:solidFill>
                <a:latin typeface="Calibri" pitchFamily="34" charset="0"/>
                <a:ea typeface="Calibri" pitchFamily="34" charset="-122"/>
                <a:cs typeface="Calibri" pitchFamily="34" charset="-120"/>
              </a:rPr>
              <a:t>One passport per car  ·  Owner-controlled  ·  Private by default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9A5B0C"/>
                </a:solidFill>
                <a:latin typeface="Calibri" pitchFamily="34" charset="0"/>
                <a:ea typeface="Calibri" pitchFamily="34" charset="-122"/>
                <a:cs typeface="Calibri" pitchFamily="34" charset="-120"/>
              </a:rPr>
              <a:t>HOW IT WORKS</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14211D"/>
                </a:solidFill>
                <a:latin typeface="Arial" pitchFamily="34" charset="0"/>
                <a:ea typeface="Arial" pitchFamily="34" charset="-122"/>
                <a:cs typeface="Arial" pitchFamily="34" charset="-120"/>
              </a:rPr>
              <a:t>Record. Prove. Share.</a:t>
            </a:r>
            <a:endParaRPr lang="en-US" sz="3600" dirty="0"/>
          </a:p>
        </p:txBody>
      </p:sp>
      <p:sp>
        <p:nvSpPr>
          <p:cNvPr id="4" name="Record card"/>
          <p:cNvSpPr/>
          <p:nvPr/>
        </p:nvSpPr>
        <p:spPr>
          <a:xfrm>
            <a:off x="548640" y="2331720"/>
            <a:ext cx="3291840" cy="3520440"/>
          </a:xfrm>
          <a:prstGeom prst="roundRect">
            <a:avLst>
              <a:gd name="adj" fmla="val 3333"/>
            </a:avLst>
          </a:prstGeom>
          <a:solidFill>
            <a:srgbClr val="FBF9F3"/>
          </a:solidFill>
          <a:ln w="12700">
            <a:solidFill>
              <a:srgbClr val="D8D0BC"/>
            </a:solidFill>
            <a:prstDash val="solid"/>
          </a:ln>
        </p:spPr>
      </p:sp>
      <p:sp>
        <p:nvSpPr>
          <p:cNvPr id="5" name="Record circle"/>
          <p:cNvSpPr/>
          <p:nvPr/>
        </p:nvSpPr>
        <p:spPr>
          <a:xfrm>
            <a:off x="868680" y="2651760"/>
            <a:ext cx="640080" cy="640080"/>
          </a:xfrm>
          <a:prstGeom prst="ellipse">
            <a:avLst/>
          </a:prstGeom>
          <a:solidFill>
            <a:srgbClr val="E9A23B"/>
          </a:solidFill>
          <a:ln w="12700">
            <a:solidFill>
              <a:srgbClr val="E9A23B"/>
            </a:solidFill>
            <a:prstDash val="solid"/>
          </a:ln>
        </p:spPr>
      </p:sp>
      <p:sp>
        <p:nvSpPr>
          <p:cNvPr id="6" name="Record label"/>
          <p:cNvSpPr txBox="1"/>
          <p:nvPr/>
        </p:nvSpPr>
        <p:spPr>
          <a:xfrm>
            <a:off x="868680"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01</a:t>
            </a:r>
            <a:endParaRPr lang="en-US" sz="1600" dirty="0"/>
          </a:p>
        </p:txBody>
      </p:sp>
      <p:sp>
        <p:nvSpPr>
          <p:cNvPr id="7" name="Record title"/>
          <p:cNvSpPr txBox="1"/>
          <p:nvPr/>
        </p:nvSpPr>
        <p:spPr>
          <a:xfrm>
            <a:off x="868680" y="3474720"/>
            <a:ext cx="265176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Record</a:t>
            </a:r>
            <a:endParaRPr lang="en-US" sz="2200" dirty="0"/>
          </a:p>
        </p:txBody>
      </p:sp>
      <p:sp>
        <p:nvSpPr>
          <p:cNvPr id="8" name="Record text"/>
          <p:cNvSpPr txBox="1"/>
          <p:nvPr/>
        </p:nvSpPr>
        <p:spPr>
          <a:xfrm>
            <a:off x="868680" y="4069080"/>
            <a:ext cx="2651760" cy="164592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Log services, repairs, inspections, odometer readings and fuel. Attach the receipt as a PDF or photo.</a:t>
            </a:r>
            <a:endParaRPr lang="en-US" sz="1600" dirty="0"/>
          </a:p>
        </p:txBody>
      </p:sp>
      <p:sp>
        <p:nvSpPr>
          <p:cNvPr id="9" name="Arrow 1"/>
          <p:cNvSpPr/>
          <p:nvPr/>
        </p:nvSpPr>
        <p:spPr>
          <a:xfrm>
            <a:off x="3931920" y="3931920"/>
            <a:ext cx="384048" cy="320040"/>
          </a:xfrm>
          <a:prstGeom prst="rightArrow">
            <a:avLst/>
          </a:prstGeom>
          <a:solidFill>
            <a:srgbClr val="E9A23B"/>
          </a:solidFill>
          <a:ln w="12700">
            <a:solidFill>
              <a:srgbClr val="E9A23B"/>
            </a:solidFill>
            <a:prstDash val="solid"/>
          </a:ln>
        </p:spPr>
      </p:sp>
      <p:sp>
        <p:nvSpPr>
          <p:cNvPr id="10" name="Prove card"/>
          <p:cNvSpPr/>
          <p:nvPr/>
        </p:nvSpPr>
        <p:spPr>
          <a:xfrm>
            <a:off x="4370832" y="2331720"/>
            <a:ext cx="3291840" cy="3520440"/>
          </a:xfrm>
          <a:prstGeom prst="roundRect">
            <a:avLst>
              <a:gd name="adj" fmla="val 3333"/>
            </a:avLst>
          </a:prstGeom>
          <a:solidFill>
            <a:srgbClr val="FBF9F3"/>
          </a:solidFill>
          <a:ln w="12700">
            <a:solidFill>
              <a:srgbClr val="D8D0BC"/>
            </a:solidFill>
            <a:prstDash val="solid"/>
          </a:ln>
        </p:spPr>
      </p:sp>
      <p:sp>
        <p:nvSpPr>
          <p:cNvPr id="11" name="Prove circle"/>
          <p:cNvSpPr/>
          <p:nvPr/>
        </p:nvSpPr>
        <p:spPr>
          <a:xfrm>
            <a:off x="4690872" y="2651760"/>
            <a:ext cx="640080" cy="640080"/>
          </a:xfrm>
          <a:prstGeom prst="ellipse">
            <a:avLst/>
          </a:prstGeom>
          <a:solidFill>
            <a:srgbClr val="E9A23B"/>
          </a:solidFill>
          <a:ln w="12700">
            <a:solidFill>
              <a:srgbClr val="E9A23B"/>
            </a:solidFill>
            <a:prstDash val="solid"/>
          </a:ln>
        </p:spPr>
      </p:sp>
      <p:sp>
        <p:nvSpPr>
          <p:cNvPr id="12" name="Prove label"/>
          <p:cNvSpPr txBox="1"/>
          <p:nvPr/>
        </p:nvSpPr>
        <p:spPr>
          <a:xfrm>
            <a:off x="4690872"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02</a:t>
            </a:r>
            <a:endParaRPr lang="en-US" sz="1600" dirty="0"/>
          </a:p>
        </p:txBody>
      </p:sp>
      <p:sp>
        <p:nvSpPr>
          <p:cNvPr id="13" name="Prove title"/>
          <p:cNvSpPr txBox="1"/>
          <p:nvPr/>
        </p:nvSpPr>
        <p:spPr>
          <a:xfrm>
            <a:off x="4690872" y="3474720"/>
            <a:ext cx="265176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Prove</a:t>
            </a:r>
            <a:endParaRPr lang="en-US" sz="2200" dirty="0"/>
          </a:p>
        </p:txBody>
      </p:sp>
      <p:sp>
        <p:nvSpPr>
          <p:cNvPr id="14" name="Prove text"/>
          <p:cNvSpPr txBox="1"/>
          <p:nvPr/>
        </p:nvSpPr>
        <p:spPr>
          <a:xfrm>
            <a:off x="4690872" y="4069080"/>
            <a:ext cx="2651760" cy="164592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Records are append-only: corrections keep the original. Every entry shows its source and whether it is verified.</a:t>
            </a:r>
            <a:endParaRPr lang="en-US" sz="1600" dirty="0"/>
          </a:p>
        </p:txBody>
      </p:sp>
      <p:sp>
        <p:nvSpPr>
          <p:cNvPr id="15" name="Arrow 2"/>
          <p:cNvSpPr/>
          <p:nvPr/>
        </p:nvSpPr>
        <p:spPr>
          <a:xfrm>
            <a:off x="7754112" y="3931920"/>
            <a:ext cx="384048" cy="320040"/>
          </a:xfrm>
          <a:prstGeom prst="rightArrow">
            <a:avLst/>
          </a:prstGeom>
          <a:solidFill>
            <a:srgbClr val="E9A23B"/>
          </a:solidFill>
          <a:ln w="12700">
            <a:solidFill>
              <a:srgbClr val="E9A23B"/>
            </a:solidFill>
            <a:prstDash val="solid"/>
          </a:ln>
        </p:spPr>
      </p:sp>
      <p:sp>
        <p:nvSpPr>
          <p:cNvPr id="16" name="Share card"/>
          <p:cNvSpPr/>
          <p:nvPr/>
        </p:nvSpPr>
        <p:spPr>
          <a:xfrm>
            <a:off x="8193024" y="2331720"/>
            <a:ext cx="3291840" cy="3520440"/>
          </a:xfrm>
          <a:prstGeom prst="roundRect">
            <a:avLst>
              <a:gd name="adj" fmla="val 3333"/>
            </a:avLst>
          </a:prstGeom>
          <a:solidFill>
            <a:srgbClr val="FBF9F3"/>
          </a:solidFill>
          <a:ln w="12700">
            <a:solidFill>
              <a:srgbClr val="D8D0BC"/>
            </a:solidFill>
            <a:prstDash val="solid"/>
          </a:ln>
        </p:spPr>
      </p:sp>
      <p:sp>
        <p:nvSpPr>
          <p:cNvPr id="17" name="Share circle"/>
          <p:cNvSpPr/>
          <p:nvPr/>
        </p:nvSpPr>
        <p:spPr>
          <a:xfrm>
            <a:off x="8513064" y="2651760"/>
            <a:ext cx="640080" cy="640080"/>
          </a:xfrm>
          <a:prstGeom prst="ellipse">
            <a:avLst/>
          </a:prstGeom>
          <a:solidFill>
            <a:srgbClr val="E9A23B"/>
          </a:solidFill>
          <a:ln w="12700">
            <a:solidFill>
              <a:srgbClr val="E9A23B"/>
            </a:solidFill>
            <a:prstDash val="solid"/>
          </a:ln>
        </p:spPr>
      </p:sp>
      <p:sp>
        <p:nvSpPr>
          <p:cNvPr id="18" name="Share label"/>
          <p:cNvSpPr txBox="1"/>
          <p:nvPr/>
        </p:nvSpPr>
        <p:spPr>
          <a:xfrm>
            <a:off x="8513064"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03</a:t>
            </a:r>
            <a:endParaRPr lang="en-US" sz="1600" dirty="0"/>
          </a:p>
        </p:txBody>
      </p:sp>
      <p:sp>
        <p:nvSpPr>
          <p:cNvPr id="19" name="Share title"/>
          <p:cNvSpPr txBox="1"/>
          <p:nvPr/>
        </p:nvSpPr>
        <p:spPr>
          <a:xfrm>
            <a:off x="8513064" y="3474720"/>
            <a:ext cx="265176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Share</a:t>
            </a:r>
            <a:endParaRPr lang="en-US" sz="2200" dirty="0"/>
          </a:p>
        </p:txBody>
      </p:sp>
      <p:sp>
        <p:nvSpPr>
          <p:cNvPr id="20" name="Share text"/>
          <p:cNvSpPr txBox="1"/>
          <p:nvPr/>
        </p:nvSpPr>
        <p:spPr>
          <a:xfrm>
            <a:off x="8513064" y="4069080"/>
            <a:ext cx="2651760" cy="164592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List the car with the history you choose. VIN, plates, notes, documents and location stay private.</a:t>
            </a:r>
            <a:endParaRPr lang="en-US" sz="1600" dirty="0"/>
          </a:p>
        </p:txBody>
      </p:sp>
      <p:sp>
        <p:nvSpPr>
          <p:cNvPr id="22"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9A5B0C"/>
                </a:solidFill>
                <a:latin typeface="Calibri" pitchFamily="34" charset="0"/>
                <a:ea typeface="Calibri" pitchFamily="34" charset="-122"/>
                <a:cs typeface="Calibri" pitchFamily="34" charset="-120"/>
              </a:rPr>
              <a:t>THE PRODUCT</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14211D"/>
                </a:solidFill>
                <a:latin typeface="Arial" pitchFamily="34" charset="0"/>
                <a:ea typeface="Arial" pitchFamily="34" charset="-122"/>
                <a:cs typeface="Arial" pitchFamily="34" charset="-120"/>
              </a:rPr>
              <a:t>Built around the passport</a:t>
            </a:r>
            <a:endParaRPr lang="en-US" sz="3600" dirty="0"/>
          </a:p>
        </p:txBody>
      </p:sp>
      <p:sp>
        <p:nvSpPr>
          <p:cNvPr id="4" name="Fuel tracking card"/>
          <p:cNvSpPr/>
          <p:nvPr/>
        </p:nvSpPr>
        <p:spPr>
          <a:xfrm>
            <a:off x="548640" y="2286000"/>
            <a:ext cx="5449824" cy="1645920"/>
          </a:xfrm>
          <a:prstGeom prst="roundRect">
            <a:avLst>
              <a:gd name="adj" fmla="val 6667"/>
            </a:avLst>
          </a:prstGeom>
          <a:solidFill>
            <a:srgbClr val="E9E3D4"/>
          </a:solidFill>
          <a:ln w="12700">
            <a:solidFill>
              <a:srgbClr val="E9E3D4"/>
            </a:solidFill>
            <a:prstDash val="solid"/>
          </a:ln>
        </p:spPr>
      </p:sp>
      <p:sp>
        <p:nvSpPr>
          <p:cNvPr id="5" name="Fuel tracking circle"/>
          <p:cNvSpPr/>
          <p:nvPr/>
        </p:nvSpPr>
        <p:spPr>
          <a:xfrm>
            <a:off x="822960" y="2560320"/>
            <a:ext cx="548640" cy="548640"/>
          </a:xfrm>
          <a:prstGeom prst="ellipse">
            <a:avLst/>
          </a:prstGeom>
          <a:solidFill>
            <a:srgbClr val="E9A23B"/>
          </a:solidFill>
          <a:ln w="12700">
            <a:solidFill>
              <a:srgbClr val="E9A23B"/>
            </a:solidFill>
            <a:prstDash val="solid"/>
          </a:ln>
        </p:spPr>
      </p:sp>
      <p:sp>
        <p:nvSpPr>
          <p:cNvPr id="6" name="Fuel tracking label"/>
          <p:cNvSpPr txBox="1"/>
          <p:nvPr/>
        </p:nvSpPr>
        <p:spPr>
          <a:xfrm>
            <a:off x="822960" y="2560320"/>
            <a:ext cx="548640" cy="54864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01</a:t>
            </a:r>
            <a:endParaRPr lang="en-US" sz="1600" dirty="0"/>
          </a:p>
        </p:txBody>
      </p:sp>
      <p:sp>
        <p:nvSpPr>
          <p:cNvPr id="7" name="Fuel tracking title"/>
          <p:cNvSpPr txBox="1"/>
          <p:nvPr/>
        </p:nvSpPr>
        <p:spPr>
          <a:xfrm>
            <a:off x="1600200" y="2542032"/>
            <a:ext cx="4160520" cy="411480"/>
          </a:xfrm>
          <a:prstGeom prst="rect">
            <a:avLst/>
          </a:prstGeom>
          <a:noFill/>
          <a:ln/>
        </p:spPr>
        <p:txBody>
          <a:bodyPr wrap="square" lIns="0" tIns="0" rIns="0" bIns="0" rtlCol="0" anchor="t"/>
          <a:lstStyle/>
          <a:p>
            <a:pPr indent="0" marL="0">
              <a:buNone/>
            </a:pPr>
            <a:r>
              <a:rPr lang="en-US" sz="2000" b="1" dirty="0">
                <a:solidFill>
                  <a:srgbClr val="14211D"/>
                </a:solidFill>
                <a:latin typeface="Arial" pitchFamily="34" charset="0"/>
                <a:ea typeface="Arial" pitchFamily="34" charset="-122"/>
                <a:cs typeface="Arial" pitchFamily="34" charset="-120"/>
              </a:rPr>
              <a:t>Fuel tracking</a:t>
            </a:r>
            <a:endParaRPr lang="en-US" sz="2000" dirty="0"/>
          </a:p>
        </p:txBody>
      </p:sp>
      <p:sp>
        <p:nvSpPr>
          <p:cNvPr id="8" name="Fuel tracking text"/>
          <p:cNvSpPr txBox="1"/>
          <p:nvPr/>
        </p:nvSpPr>
        <p:spPr>
          <a:xfrm>
            <a:off x="1600200" y="3017520"/>
            <a:ext cx="4160520" cy="777240"/>
          </a:xfrm>
          <a:prstGeom prst="rect">
            <a:avLst/>
          </a:prstGeom>
          <a:noFill/>
          <a:ln/>
        </p:spPr>
        <p:txBody>
          <a:bodyPr wrap="square" lIns="0" tIns="0" rIns="0" bIns="0" rtlCol="0" anchor="t"/>
          <a:lstStyle/>
          <a:p>
            <a:pPr indent="0" marL="0">
              <a:buNone/>
            </a:pPr>
            <a:r>
              <a:rPr lang="en-US" sz="1500" dirty="0">
                <a:solidFill>
                  <a:srgbClr val="4A544F"/>
                </a:solidFill>
                <a:latin typeface="Calibri" pitchFamily="34" charset="0"/>
                <a:ea typeface="Calibri" pitchFamily="34" charset="-122"/>
                <a:cs typeface="Calibri" pitchFamily="34" charset="-120"/>
              </a:rPr>
              <a:t>Real consumption from full-tank fill-ups, with receipts and totals per currency.</a:t>
            </a:r>
            <a:endParaRPr lang="en-US" sz="1500" dirty="0"/>
          </a:p>
        </p:txBody>
      </p:sp>
      <p:sp>
        <p:nvSpPr>
          <p:cNvPr id="9" name="Marketplace card"/>
          <p:cNvSpPr/>
          <p:nvPr/>
        </p:nvSpPr>
        <p:spPr>
          <a:xfrm>
            <a:off x="6190488" y="2286000"/>
            <a:ext cx="5449824" cy="1645920"/>
          </a:xfrm>
          <a:prstGeom prst="roundRect">
            <a:avLst>
              <a:gd name="adj" fmla="val 6667"/>
            </a:avLst>
          </a:prstGeom>
          <a:solidFill>
            <a:srgbClr val="E9E3D4"/>
          </a:solidFill>
          <a:ln w="12700">
            <a:solidFill>
              <a:srgbClr val="E9E3D4"/>
            </a:solidFill>
            <a:prstDash val="solid"/>
          </a:ln>
        </p:spPr>
      </p:sp>
      <p:sp>
        <p:nvSpPr>
          <p:cNvPr id="10" name="Marketplace circle"/>
          <p:cNvSpPr/>
          <p:nvPr/>
        </p:nvSpPr>
        <p:spPr>
          <a:xfrm>
            <a:off x="6464808" y="2560320"/>
            <a:ext cx="548640" cy="548640"/>
          </a:xfrm>
          <a:prstGeom prst="ellipse">
            <a:avLst/>
          </a:prstGeom>
          <a:solidFill>
            <a:srgbClr val="E9A23B"/>
          </a:solidFill>
          <a:ln w="12700">
            <a:solidFill>
              <a:srgbClr val="E9A23B"/>
            </a:solidFill>
            <a:prstDash val="solid"/>
          </a:ln>
        </p:spPr>
      </p:sp>
      <p:sp>
        <p:nvSpPr>
          <p:cNvPr id="11" name="Marketplace label"/>
          <p:cNvSpPr txBox="1"/>
          <p:nvPr/>
        </p:nvSpPr>
        <p:spPr>
          <a:xfrm>
            <a:off x="6464808" y="2560320"/>
            <a:ext cx="548640" cy="54864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02</a:t>
            </a:r>
            <a:endParaRPr lang="en-US" sz="1600" dirty="0"/>
          </a:p>
        </p:txBody>
      </p:sp>
      <p:sp>
        <p:nvSpPr>
          <p:cNvPr id="12" name="Marketplace title"/>
          <p:cNvSpPr txBox="1"/>
          <p:nvPr/>
        </p:nvSpPr>
        <p:spPr>
          <a:xfrm>
            <a:off x="7242048" y="2542032"/>
            <a:ext cx="4160520" cy="411480"/>
          </a:xfrm>
          <a:prstGeom prst="rect">
            <a:avLst/>
          </a:prstGeom>
          <a:noFill/>
          <a:ln/>
        </p:spPr>
        <p:txBody>
          <a:bodyPr wrap="square" lIns="0" tIns="0" rIns="0" bIns="0" rtlCol="0" anchor="t"/>
          <a:lstStyle/>
          <a:p>
            <a:pPr indent="0" marL="0">
              <a:buNone/>
            </a:pPr>
            <a:r>
              <a:rPr lang="en-US" sz="2000" b="1" dirty="0">
                <a:solidFill>
                  <a:srgbClr val="14211D"/>
                </a:solidFill>
                <a:latin typeface="Arial" pitchFamily="34" charset="0"/>
                <a:ea typeface="Arial" pitchFamily="34" charset="-122"/>
                <a:cs typeface="Arial" pitchFamily="34" charset="-120"/>
              </a:rPr>
              <a:t>Marketplace</a:t>
            </a:r>
            <a:endParaRPr lang="en-US" sz="2000" dirty="0"/>
          </a:p>
        </p:txBody>
      </p:sp>
      <p:sp>
        <p:nvSpPr>
          <p:cNvPr id="13" name="Marketplace text"/>
          <p:cNvSpPr txBox="1"/>
          <p:nvPr/>
        </p:nvSpPr>
        <p:spPr>
          <a:xfrm>
            <a:off x="7242048" y="3017520"/>
            <a:ext cx="4160520" cy="777240"/>
          </a:xfrm>
          <a:prstGeom prst="rect">
            <a:avLst/>
          </a:prstGeom>
          <a:noFill/>
          <a:ln/>
        </p:spPr>
        <p:txBody>
          <a:bodyPr wrap="square" lIns="0" tIns="0" rIns="0" bIns="0" rtlCol="0" anchor="t"/>
          <a:lstStyle/>
          <a:p>
            <a:pPr indent="0" marL="0">
              <a:buNone/>
            </a:pPr>
            <a:r>
              <a:rPr lang="en-US" sz="1500" dirty="0">
                <a:solidFill>
                  <a:srgbClr val="4A544F"/>
                </a:solidFill>
                <a:latin typeface="Calibri" pitchFamily="34" charset="0"/>
                <a:ea typeface="Calibri" pitchFamily="34" charset="-122"/>
                <a:cs typeface="Calibri" pitchFamily="34" charset="-120"/>
              </a:rPr>
              <a:t>Listings carry their history summary. Buyers send enquiries and offers to the seller.</a:t>
            </a:r>
            <a:endParaRPr lang="en-US" sz="1500" dirty="0"/>
          </a:p>
        </p:txBody>
      </p:sp>
      <p:sp>
        <p:nvSpPr>
          <p:cNvPr id="14" name="Smartmoti Assistant card"/>
          <p:cNvSpPr/>
          <p:nvPr/>
        </p:nvSpPr>
        <p:spPr>
          <a:xfrm>
            <a:off x="548640" y="4160520"/>
            <a:ext cx="5449824" cy="1645920"/>
          </a:xfrm>
          <a:prstGeom prst="roundRect">
            <a:avLst>
              <a:gd name="adj" fmla="val 6667"/>
            </a:avLst>
          </a:prstGeom>
          <a:solidFill>
            <a:srgbClr val="E9E3D4"/>
          </a:solidFill>
          <a:ln w="12700">
            <a:solidFill>
              <a:srgbClr val="E9E3D4"/>
            </a:solidFill>
            <a:prstDash val="solid"/>
          </a:ln>
        </p:spPr>
      </p:sp>
      <p:sp>
        <p:nvSpPr>
          <p:cNvPr id="15" name="Smartmoti Assistant circle"/>
          <p:cNvSpPr/>
          <p:nvPr/>
        </p:nvSpPr>
        <p:spPr>
          <a:xfrm>
            <a:off x="822960" y="4434840"/>
            <a:ext cx="548640" cy="548640"/>
          </a:xfrm>
          <a:prstGeom prst="ellipse">
            <a:avLst/>
          </a:prstGeom>
          <a:solidFill>
            <a:srgbClr val="E9A23B"/>
          </a:solidFill>
          <a:ln w="12700">
            <a:solidFill>
              <a:srgbClr val="E9A23B"/>
            </a:solidFill>
            <a:prstDash val="solid"/>
          </a:ln>
        </p:spPr>
      </p:sp>
      <p:sp>
        <p:nvSpPr>
          <p:cNvPr id="16" name="Smartmoti Assistant label"/>
          <p:cNvSpPr txBox="1"/>
          <p:nvPr/>
        </p:nvSpPr>
        <p:spPr>
          <a:xfrm>
            <a:off x="822960" y="4434840"/>
            <a:ext cx="548640" cy="54864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03</a:t>
            </a:r>
            <a:endParaRPr lang="en-US" sz="1600" dirty="0"/>
          </a:p>
        </p:txBody>
      </p:sp>
      <p:sp>
        <p:nvSpPr>
          <p:cNvPr id="17" name="Smartmoti Assistant title"/>
          <p:cNvSpPr txBox="1"/>
          <p:nvPr/>
        </p:nvSpPr>
        <p:spPr>
          <a:xfrm>
            <a:off x="1600200" y="4416552"/>
            <a:ext cx="4160520" cy="411480"/>
          </a:xfrm>
          <a:prstGeom prst="rect">
            <a:avLst/>
          </a:prstGeom>
          <a:noFill/>
          <a:ln/>
        </p:spPr>
        <p:txBody>
          <a:bodyPr wrap="square" lIns="0" tIns="0" rIns="0" bIns="0" rtlCol="0" anchor="t"/>
          <a:lstStyle/>
          <a:p>
            <a:pPr indent="0" marL="0">
              <a:buNone/>
            </a:pPr>
            <a:r>
              <a:rPr lang="en-US" sz="2000" b="1" dirty="0">
                <a:solidFill>
                  <a:srgbClr val="14211D"/>
                </a:solidFill>
                <a:latin typeface="Arial" pitchFamily="34" charset="0"/>
                <a:ea typeface="Arial" pitchFamily="34" charset="-122"/>
                <a:cs typeface="Arial" pitchFamily="34" charset="-120"/>
              </a:rPr>
              <a:t>Smartmoti Assistant</a:t>
            </a:r>
            <a:endParaRPr lang="en-US" sz="2000" dirty="0"/>
          </a:p>
        </p:txBody>
      </p:sp>
      <p:sp>
        <p:nvSpPr>
          <p:cNvPr id="18" name="Smartmoti Assistant text"/>
          <p:cNvSpPr txBox="1"/>
          <p:nvPr/>
        </p:nvSpPr>
        <p:spPr>
          <a:xfrm>
            <a:off x="1600200" y="4892040"/>
            <a:ext cx="4160520" cy="777240"/>
          </a:xfrm>
          <a:prstGeom prst="rect">
            <a:avLst/>
          </a:prstGeom>
          <a:noFill/>
          <a:ln/>
        </p:spPr>
        <p:txBody>
          <a:bodyPr wrap="square" lIns="0" tIns="0" rIns="0" bIns="0" rtlCol="0" anchor="t"/>
          <a:lstStyle/>
          <a:p>
            <a:pPr indent="0" marL="0">
              <a:buNone/>
            </a:pPr>
            <a:r>
              <a:rPr lang="en-US" sz="1500" dirty="0">
                <a:solidFill>
                  <a:srgbClr val="4A544F"/>
                </a:solidFill>
                <a:latin typeface="Calibri" pitchFamily="34" charset="0"/>
                <a:ea typeface="Calibri" pitchFamily="34" charset="-122"/>
                <a:cs typeface="Calibri" pitchFamily="34" charset="-120"/>
              </a:rPr>
              <a:t>Optional Gemini AI drafts records and listings. Nothing saves until you approve it.</a:t>
            </a:r>
            <a:endParaRPr lang="en-US" sz="1500" dirty="0"/>
          </a:p>
        </p:txBody>
      </p:sp>
      <p:sp>
        <p:nvSpPr>
          <p:cNvPr id="19" name="Optional NFT passport card"/>
          <p:cNvSpPr/>
          <p:nvPr/>
        </p:nvSpPr>
        <p:spPr>
          <a:xfrm>
            <a:off x="6190488" y="4160520"/>
            <a:ext cx="5449824" cy="1645920"/>
          </a:xfrm>
          <a:prstGeom prst="roundRect">
            <a:avLst>
              <a:gd name="adj" fmla="val 6667"/>
            </a:avLst>
          </a:prstGeom>
          <a:solidFill>
            <a:srgbClr val="E9E3D4"/>
          </a:solidFill>
          <a:ln w="12700">
            <a:solidFill>
              <a:srgbClr val="E9E3D4"/>
            </a:solidFill>
            <a:prstDash val="solid"/>
          </a:ln>
        </p:spPr>
      </p:sp>
      <p:sp>
        <p:nvSpPr>
          <p:cNvPr id="20" name="Optional NFT passport circle"/>
          <p:cNvSpPr/>
          <p:nvPr/>
        </p:nvSpPr>
        <p:spPr>
          <a:xfrm>
            <a:off x="6464808" y="4434840"/>
            <a:ext cx="548640" cy="548640"/>
          </a:xfrm>
          <a:prstGeom prst="ellipse">
            <a:avLst/>
          </a:prstGeom>
          <a:solidFill>
            <a:srgbClr val="E9A23B"/>
          </a:solidFill>
          <a:ln w="12700">
            <a:solidFill>
              <a:srgbClr val="E9A23B"/>
            </a:solidFill>
            <a:prstDash val="solid"/>
          </a:ln>
        </p:spPr>
      </p:sp>
      <p:sp>
        <p:nvSpPr>
          <p:cNvPr id="21" name="Optional NFT passport label"/>
          <p:cNvSpPr txBox="1"/>
          <p:nvPr/>
        </p:nvSpPr>
        <p:spPr>
          <a:xfrm>
            <a:off x="6464808" y="4434840"/>
            <a:ext cx="548640" cy="54864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04</a:t>
            </a:r>
            <a:endParaRPr lang="en-US" sz="1600" dirty="0"/>
          </a:p>
        </p:txBody>
      </p:sp>
      <p:sp>
        <p:nvSpPr>
          <p:cNvPr id="22" name="Optional NFT passport title"/>
          <p:cNvSpPr txBox="1"/>
          <p:nvPr/>
        </p:nvSpPr>
        <p:spPr>
          <a:xfrm>
            <a:off x="7242048" y="4416552"/>
            <a:ext cx="4160520" cy="411480"/>
          </a:xfrm>
          <a:prstGeom prst="rect">
            <a:avLst/>
          </a:prstGeom>
          <a:noFill/>
          <a:ln/>
        </p:spPr>
        <p:txBody>
          <a:bodyPr wrap="square" lIns="0" tIns="0" rIns="0" bIns="0" rtlCol="0" anchor="t"/>
          <a:lstStyle/>
          <a:p>
            <a:pPr indent="0" marL="0">
              <a:buNone/>
            </a:pPr>
            <a:r>
              <a:rPr lang="en-US" sz="2000" b="1" dirty="0">
                <a:solidFill>
                  <a:srgbClr val="14211D"/>
                </a:solidFill>
                <a:latin typeface="Arial" pitchFamily="34" charset="0"/>
                <a:ea typeface="Arial" pitchFamily="34" charset="-122"/>
                <a:cs typeface="Arial" pitchFamily="34" charset="-120"/>
              </a:rPr>
              <a:t>Optional NFT passport</a:t>
            </a:r>
            <a:endParaRPr lang="en-US" sz="2000" dirty="0"/>
          </a:p>
        </p:txBody>
      </p:sp>
      <p:sp>
        <p:nvSpPr>
          <p:cNvPr id="23" name="Optional NFT passport text"/>
          <p:cNvSpPr txBox="1"/>
          <p:nvPr/>
        </p:nvSpPr>
        <p:spPr>
          <a:xfrm>
            <a:off x="7242048" y="4892040"/>
            <a:ext cx="4160520" cy="777240"/>
          </a:xfrm>
          <a:prstGeom prst="rect">
            <a:avLst/>
          </a:prstGeom>
          <a:noFill/>
          <a:ln/>
        </p:spPr>
        <p:txBody>
          <a:bodyPr wrap="square" lIns="0" tIns="0" rIns="0" bIns="0" rtlCol="0" anchor="t"/>
          <a:lstStyle/>
          <a:p>
            <a:pPr indent="0" marL="0">
              <a:buNone/>
            </a:pPr>
            <a:r>
              <a:rPr lang="en-US" sz="1500" dirty="0">
                <a:solidFill>
                  <a:srgbClr val="4A544F"/>
                </a:solidFill>
                <a:latin typeface="Calibri" pitchFamily="34" charset="0"/>
                <a:ea typeface="Calibri" pitchFamily="34" charset="-122"/>
                <a:cs typeface="Calibri" pitchFamily="34" charset="-120"/>
              </a:rPr>
              <a:t>Mint non-sensitive passport metadata if you want to. Everyday records stay off-chain.</a:t>
            </a:r>
            <a:endParaRPr lang="en-US" sz="1500" dirty="0"/>
          </a:p>
        </p:txBody>
      </p:sp>
      <p:sp>
        <p:nvSpPr>
          <p:cNvPr id="25"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E9A23B"/>
                </a:solidFill>
                <a:latin typeface="Calibri" pitchFamily="34" charset="0"/>
                <a:ea typeface="Calibri" pitchFamily="34" charset="-122"/>
                <a:cs typeface="Calibri" pitchFamily="34" charset="-120"/>
              </a:rPr>
              <a:t>TRUST BY DESIGN</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F4F0E6"/>
                </a:solidFill>
                <a:latin typeface="Arial" pitchFamily="34" charset="0"/>
                <a:ea typeface="Arial" pitchFamily="34" charset="-122"/>
                <a:cs typeface="Arial" pitchFamily="34" charset="-120"/>
              </a:rPr>
              <a:t>Proof for buyers, privacy for owners</a:t>
            </a:r>
            <a:endParaRPr lang="en-US" sz="3600" dirty="0"/>
          </a:p>
        </p:txBody>
      </p:sp>
      <p:sp>
        <p:nvSpPr>
          <p:cNvPr id="4" name="Listings rule"/>
          <p:cNvSpPr/>
          <p:nvPr/>
        </p:nvSpPr>
        <p:spPr>
          <a:xfrm>
            <a:off x="548640" y="2240280"/>
            <a:ext cx="11091672" cy="0"/>
          </a:xfrm>
          <a:prstGeom prst="line">
            <a:avLst/>
          </a:prstGeom>
          <a:noFill/>
          <a:ln w="12700">
            <a:solidFill>
              <a:srgbClr val="3A4A44"/>
            </a:solidFill>
            <a:prstDash val="solid"/>
          </a:ln>
        </p:spPr>
      </p:sp>
      <p:sp>
        <p:nvSpPr>
          <p:cNvPr id="5" name="Listings label"/>
          <p:cNvSpPr txBox="1"/>
          <p:nvPr/>
        </p:nvSpPr>
        <p:spPr>
          <a:xfrm>
            <a:off x="548640" y="2496312"/>
            <a:ext cx="2377440" cy="457200"/>
          </a:xfrm>
          <a:prstGeom prst="rect">
            <a:avLst/>
          </a:prstGeom>
          <a:noFill/>
          <a:ln/>
        </p:spPr>
        <p:txBody>
          <a:bodyPr wrap="square" lIns="0" tIns="0" rIns="0" bIns="0" rtlCol="0" anchor="t"/>
          <a:lstStyle/>
          <a:p>
            <a:pPr indent="0" marL="0">
              <a:buNone/>
            </a:pPr>
            <a:r>
              <a:rPr lang="en-US" sz="2000" b="1" dirty="0">
                <a:solidFill>
                  <a:srgbClr val="E9A23B"/>
                </a:solidFill>
                <a:latin typeface="Arial" pitchFamily="34" charset="0"/>
                <a:ea typeface="Arial" pitchFamily="34" charset="-122"/>
                <a:cs typeface="Arial" pitchFamily="34" charset="-120"/>
              </a:rPr>
              <a:t>Listings</a:t>
            </a:r>
            <a:endParaRPr lang="en-US" sz="2000" dirty="0"/>
          </a:p>
        </p:txBody>
      </p:sp>
      <p:sp>
        <p:nvSpPr>
          <p:cNvPr id="6" name="Listings text"/>
          <p:cNvSpPr txBox="1"/>
          <p:nvPr/>
        </p:nvSpPr>
        <p:spPr>
          <a:xfrm>
            <a:off x="3108960" y="2496312"/>
            <a:ext cx="8503920" cy="548640"/>
          </a:xfrm>
          <a:prstGeom prst="rect">
            <a:avLst/>
          </a:prstGeom>
          <a:noFill/>
          <a:ln/>
        </p:spPr>
        <p:txBody>
          <a:bodyPr wrap="square" lIns="0" tIns="0" rIns="0" bIns="0" rtlCol="0" anchor="t"/>
          <a:lstStyle/>
          <a:p>
            <a:pPr indent="0" marL="0">
              <a:buNone/>
            </a:pPr>
            <a:r>
              <a:rPr lang="en-US" sz="1800" dirty="0">
                <a:solidFill>
                  <a:srgbClr val="C9D3CC"/>
                </a:solidFill>
                <a:latin typeface="Calibri" pitchFamily="34" charset="0"/>
                <a:ea typeface="Calibri" pitchFamily="34" charset="-122"/>
                <a:cs typeface="Calibri" pitchFamily="34" charset="-120"/>
              </a:rPr>
              <a:t>Never show VIN, registration, private notes, documents or location history.</a:t>
            </a:r>
            <a:endParaRPr lang="en-US" sz="1800" dirty="0"/>
          </a:p>
        </p:txBody>
      </p:sp>
      <p:sp>
        <p:nvSpPr>
          <p:cNvPr id="7" name="AI rule"/>
          <p:cNvSpPr/>
          <p:nvPr/>
        </p:nvSpPr>
        <p:spPr>
          <a:xfrm>
            <a:off x="548640" y="3200400"/>
            <a:ext cx="11091672" cy="0"/>
          </a:xfrm>
          <a:prstGeom prst="line">
            <a:avLst/>
          </a:prstGeom>
          <a:noFill/>
          <a:ln w="12700">
            <a:solidFill>
              <a:srgbClr val="3A4A44"/>
            </a:solidFill>
            <a:prstDash val="solid"/>
          </a:ln>
        </p:spPr>
      </p:sp>
      <p:sp>
        <p:nvSpPr>
          <p:cNvPr id="8" name="AI label"/>
          <p:cNvSpPr txBox="1"/>
          <p:nvPr/>
        </p:nvSpPr>
        <p:spPr>
          <a:xfrm>
            <a:off x="548640" y="3456432"/>
            <a:ext cx="2377440" cy="457200"/>
          </a:xfrm>
          <a:prstGeom prst="rect">
            <a:avLst/>
          </a:prstGeom>
          <a:noFill/>
          <a:ln/>
        </p:spPr>
        <p:txBody>
          <a:bodyPr wrap="square" lIns="0" tIns="0" rIns="0" bIns="0" rtlCol="0" anchor="t"/>
          <a:lstStyle/>
          <a:p>
            <a:pPr indent="0" marL="0">
              <a:buNone/>
            </a:pPr>
            <a:r>
              <a:rPr lang="en-US" sz="2000" b="1" dirty="0">
                <a:solidFill>
                  <a:srgbClr val="E9A23B"/>
                </a:solidFill>
                <a:latin typeface="Arial" pitchFamily="34" charset="0"/>
                <a:ea typeface="Arial" pitchFamily="34" charset="-122"/>
                <a:cs typeface="Arial" pitchFamily="34" charset="-120"/>
              </a:rPr>
              <a:t>AI</a:t>
            </a:r>
            <a:endParaRPr lang="en-US" sz="2000" dirty="0"/>
          </a:p>
        </p:txBody>
      </p:sp>
      <p:sp>
        <p:nvSpPr>
          <p:cNvPr id="9" name="AI text"/>
          <p:cNvSpPr txBox="1"/>
          <p:nvPr/>
        </p:nvSpPr>
        <p:spPr>
          <a:xfrm>
            <a:off x="3108960" y="3456432"/>
            <a:ext cx="8503920" cy="548640"/>
          </a:xfrm>
          <a:prstGeom prst="rect">
            <a:avLst/>
          </a:prstGeom>
          <a:noFill/>
          <a:ln/>
        </p:spPr>
        <p:txBody>
          <a:bodyPr wrap="square" lIns="0" tIns="0" rIns="0" bIns="0" rtlCol="0" anchor="t"/>
          <a:lstStyle/>
          <a:p>
            <a:pPr indent="0" marL="0">
              <a:buNone/>
            </a:pPr>
            <a:r>
              <a:rPr lang="en-US" sz="1800" dirty="0">
                <a:solidFill>
                  <a:srgbClr val="C9D3CC"/>
                </a:solidFill>
                <a:latin typeface="Calibri" pitchFamily="34" charset="0"/>
                <a:ea typeface="Calibri" pitchFamily="34" charset="-122"/>
                <a:cs typeface="Calibri" pitchFamily="34" charset="-120"/>
              </a:rPr>
              <a:t>Sees no notes, documents, VIN, plates, personal details or GPS. Every claim cites a record.</a:t>
            </a:r>
            <a:endParaRPr lang="en-US" sz="1800" dirty="0"/>
          </a:p>
        </p:txBody>
      </p:sp>
      <p:sp>
        <p:nvSpPr>
          <p:cNvPr id="10" name="Records rule"/>
          <p:cNvSpPr/>
          <p:nvPr/>
        </p:nvSpPr>
        <p:spPr>
          <a:xfrm>
            <a:off x="548640" y="4160520"/>
            <a:ext cx="11091672" cy="0"/>
          </a:xfrm>
          <a:prstGeom prst="line">
            <a:avLst/>
          </a:prstGeom>
          <a:noFill/>
          <a:ln w="12700">
            <a:solidFill>
              <a:srgbClr val="3A4A44"/>
            </a:solidFill>
            <a:prstDash val="solid"/>
          </a:ln>
        </p:spPr>
      </p:sp>
      <p:sp>
        <p:nvSpPr>
          <p:cNvPr id="11" name="Records label"/>
          <p:cNvSpPr txBox="1"/>
          <p:nvPr/>
        </p:nvSpPr>
        <p:spPr>
          <a:xfrm>
            <a:off x="548640" y="4416552"/>
            <a:ext cx="2377440" cy="457200"/>
          </a:xfrm>
          <a:prstGeom prst="rect">
            <a:avLst/>
          </a:prstGeom>
          <a:noFill/>
          <a:ln/>
        </p:spPr>
        <p:txBody>
          <a:bodyPr wrap="square" lIns="0" tIns="0" rIns="0" bIns="0" rtlCol="0" anchor="t"/>
          <a:lstStyle/>
          <a:p>
            <a:pPr indent="0" marL="0">
              <a:buNone/>
            </a:pPr>
            <a:r>
              <a:rPr lang="en-US" sz="2000" b="1" dirty="0">
                <a:solidFill>
                  <a:srgbClr val="E9A23B"/>
                </a:solidFill>
                <a:latin typeface="Arial" pitchFamily="34" charset="0"/>
                <a:ea typeface="Arial" pitchFamily="34" charset="-122"/>
                <a:cs typeface="Arial" pitchFamily="34" charset="-120"/>
              </a:rPr>
              <a:t>Records</a:t>
            </a:r>
            <a:endParaRPr lang="en-US" sz="2000" dirty="0"/>
          </a:p>
        </p:txBody>
      </p:sp>
      <p:sp>
        <p:nvSpPr>
          <p:cNvPr id="12" name="Records text"/>
          <p:cNvSpPr txBox="1"/>
          <p:nvPr/>
        </p:nvSpPr>
        <p:spPr>
          <a:xfrm>
            <a:off x="3108960" y="4416552"/>
            <a:ext cx="8503920" cy="548640"/>
          </a:xfrm>
          <a:prstGeom prst="rect">
            <a:avLst/>
          </a:prstGeom>
          <a:noFill/>
          <a:ln/>
        </p:spPr>
        <p:txBody>
          <a:bodyPr wrap="square" lIns="0" tIns="0" rIns="0" bIns="0" rtlCol="0" anchor="t"/>
          <a:lstStyle/>
          <a:p>
            <a:pPr indent="0" marL="0">
              <a:buNone/>
            </a:pPr>
            <a:r>
              <a:rPr lang="en-US" sz="1800" dirty="0">
                <a:solidFill>
                  <a:srgbClr val="C9D3CC"/>
                </a:solidFill>
                <a:latin typeface="Calibri" pitchFamily="34" charset="0"/>
                <a:ea typeface="Calibri" pitchFamily="34" charset="-122"/>
                <a:cs typeface="Calibri" pitchFamily="34" charset="-120"/>
              </a:rPr>
              <a:t>Corrections never erase the original. Missing data is shown as missing, never invented.</a:t>
            </a:r>
            <a:endParaRPr lang="en-US" sz="1800" dirty="0"/>
          </a:p>
        </p:txBody>
      </p:sp>
      <p:sp>
        <p:nvSpPr>
          <p:cNvPr id="13" name="Keys rule"/>
          <p:cNvSpPr/>
          <p:nvPr/>
        </p:nvSpPr>
        <p:spPr>
          <a:xfrm>
            <a:off x="548640" y="5120640"/>
            <a:ext cx="11091672" cy="0"/>
          </a:xfrm>
          <a:prstGeom prst="line">
            <a:avLst/>
          </a:prstGeom>
          <a:noFill/>
          <a:ln w="12700">
            <a:solidFill>
              <a:srgbClr val="3A4A44"/>
            </a:solidFill>
            <a:prstDash val="solid"/>
          </a:ln>
        </p:spPr>
      </p:sp>
      <p:sp>
        <p:nvSpPr>
          <p:cNvPr id="14" name="Keys label"/>
          <p:cNvSpPr txBox="1"/>
          <p:nvPr/>
        </p:nvSpPr>
        <p:spPr>
          <a:xfrm>
            <a:off x="548640" y="5376672"/>
            <a:ext cx="2377440" cy="457200"/>
          </a:xfrm>
          <a:prstGeom prst="rect">
            <a:avLst/>
          </a:prstGeom>
          <a:noFill/>
          <a:ln/>
        </p:spPr>
        <p:txBody>
          <a:bodyPr wrap="square" lIns="0" tIns="0" rIns="0" bIns="0" rtlCol="0" anchor="t"/>
          <a:lstStyle/>
          <a:p>
            <a:pPr indent="0" marL="0">
              <a:buNone/>
            </a:pPr>
            <a:r>
              <a:rPr lang="en-US" sz="2000" b="1" dirty="0">
                <a:solidFill>
                  <a:srgbClr val="E9A23B"/>
                </a:solidFill>
                <a:latin typeface="Arial" pitchFamily="34" charset="0"/>
                <a:ea typeface="Arial" pitchFamily="34" charset="-122"/>
                <a:cs typeface="Arial" pitchFamily="34" charset="-120"/>
              </a:rPr>
              <a:t>Keys</a:t>
            </a:r>
            <a:endParaRPr lang="en-US" sz="2000" dirty="0"/>
          </a:p>
        </p:txBody>
      </p:sp>
      <p:sp>
        <p:nvSpPr>
          <p:cNvPr id="15" name="Keys text"/>
          <p:cNvSpPr txBox="1"/>
          <p:nvPr/>
        </p:nvSpPr>
        <p:spPr>
          <a:xfrm>
            <a:off x="3108960" y="5376672"/>
            <a:ext cx="8503920" cy="548640"/>
          </a:xfrm>
          <a:prstGeom prst="rect">
            <a:avLst/>
          </a:prstGeom>
          <a:noFill/>
          <a:ln/>
        </p:spPr>
        <p:txBody>
          <a:bodyPr wrap="square" lIns="0" tIns="0" rIns="0" bIns="0" rtlCol="0" anchor="t"/>
          <a:lstStyle/>
          <a:p>
            <a:pPr indent="0" marL="0">
              <a:buNone/>
            </a:pPr>
            <a:r>
              <a:rPr lang="en-US" sz="1800" dirty="0">
                <a:solidFill>
                  <a:srgbClr val="C9D3CC"/>
                </a:solidFill>
                <a:latin typeface="Calibri" pitchFamily="34" charset="0"/>
                <a:ea typeface="Calibri" pitchFamily="34" charset="-122"/>
                <a:cs typeface="Calibri" pitchFamily="34" charset="-120"/>
              </a:rPr>
              <a:t>Personal AI keys are encrypted, bound to your account and never exported.</a:t>
            </a:r>
            <a:endParaRPr lang="en-US" sz="1800" dirty="0"/>
          </a:p>
        </p:txBody>
      </p:sp>
      <p:sp>
        <p:nvSpPr>
          <p:cNvPr id="16" name="Closing rule"/>
          <p:cNvSpPr/>
          <p:nvPr/>
        </p:nvSpPr>
        <p:spPr>
          <a:xfrm>
            <a:off x="548640" y="6080760"/>
            <a:ext cx="11091672" cy="0"/>
          </a:xfrm>
          <a:prstGeom prst="line">
            <a:avLst/>
          </a:prstGeom>
          <a:noFill/>
          <a:ln w="12700">
            <a:solidFill>
              <a:srgbClr val="3A4A44"/>
            </a:solidFill>
            <a:prstDash val="solid"/>
          </a:ln>
        </p:spPr>
      </p:sp>
      <p:sp>
        <p:nvSpPr>
          <p:cNvPr id="18"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D3C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9A5B0C"/>
                </a:solidFill>
                <a:latin typeface="Calibri" pitchFamily="34" charset="0"/>
                <a:ea typeface="Calibri" pitchFamily="34" charset="-122"/>
                <a:cs typeface="Calibri" pitchFamily="34" charset="-120"/>
              </a:rPr>
              <a:t>BUSINESS MODEL</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14211D"/>
                </a:solidFill>
                <a:latin typeface="Arial" pitchFamily="34" charset="0"/>
                <a:ea typeface="Arial" pitchFamily="34" charset="-122"/>
                <a:cs typeface="Arial" pitchFamily="34" charset="-120"/>
              </a:rPr>
              <a:t>Free to keep a history, paid to sell on it</a:t>
            </a:r>
            <a:endParaRPr lang="en-US" sz="3600" dirty="0"/>
          </a:p>
        </p:txBody>
      </p:sp>
      <p:sp>
        <p:nvSpPr>
          <p:cNvPr id="4"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r>
              <a:rPr lang="en-US" sz="1100" dirty="0">
                <a:solidFill>
                  <a:srgbClr val="4A544F"/>
                </a:solidFill>
                <a:latin typeface="Calibri" pitchFamily="34" charset="0"/>
                <a:ea typeface="Calibri" pitchFamily="34" charset="-122"/>
                <a:cs typeface="Calibri" pitchFamily="34" charset="-120"/>
              </a:rPr>
              <a:t>A KES 500 listing costs less than one NTSA copy of records (KES 550), and shows far more</a:t>
            </a:r>
            <a:endParaRPr lang="en-US" sz="1100" dirty="0"/>
          </a:p>
        </p:txBody>
      </p:sp>
      <p:graphicFrame>
        <p:nvGraphicFramePr>
          <p:cNvPr id="10" name="Pricing table"/>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3108960"/>
                <a:gridCol w="4873752"/>
                <a:gridCol w="3108960"/>
              </a:tblGrid>
              <a:tr h="566928">
                <a:tc>
                  <a:txBody>
                    <a:bodyPr/>
                    <a:lstStyle/>
                    <a:p>
                      <a:pPr indent="0" marL="0">
                        <a:buNone/>
                      </a:pPr>
                      <a:r>
                        <a:rPr lang="en-US" sz="1800" b="1" dirty="0">
                          <a:solidFill>
                            <a:srgbClr val="F4F0E6"/>
                          </a:solidFill>
                          <a:latin typeface="Arial" pitchFamily="34" charset="0"/>
                          <a:ea typeface="Arial" pitchFamily="34" charset="-122"/>
                          <a:cs typeface="Arial" pitchFamily="34" charset="-120"/>
                        </a:rPr>
                        <a:t>Customer</a:t>
                      </a:r>
                      <a:endParaRPr lang="en-US" sz="1800" dirty="0">
                        <a:latin typeface="Arial" charset="0"/>
                        <a:ea typeface="Arial" charset="0"/>
                        <a:cs typeface="Arial"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14211D"/>
                    </a:solidFill>
                  </a:tcPr>
                </a:tc>
                <a:tc>
                  <a:txBody>
                    <a:bodyPr/>
                    <a:lstStyle/>
                    <a:p>
                      <a:pPr indent="0" marL="0">
                        <a:buNone/>
                      </a:pPr>
                      <a:r>
                        <a:rPr lang="en-US" sz="1800" b="1" dirty="0">
                          <a:solidFill>
                            <a:srgbClr val="F4F0E6"/>
                          </a:solidFill>
                          <a:latin typeface="Arial" pitchFamily="34" charset="0"/>
                          <a:ea typeface="Arial" pitchFamily="34" charset="-122"/>
                          <a:cs typeface="Arial" pitchFamily="34" charset="-120"/>
                        </a:rPr>
                        <a:t>What they get</a:t>
                      </a:r>
                      <a:endParaRPr lang="en-US" sz="1800" dirty="0">
                        <a:latin typeface="Arial" charset="0"/>
                        <a:ea typeface="Arial" charset="0"/>
                        <a:cs typeface="Arial"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14211D"/>
                    </a:solidFill>
                  </a:tcPr>
                </a:tc>
                <a:tc>
                  <a:txBody>
                    <a:bodyPr/>
                    <a:lstStyle/>
                    <a:p>
                      <a:pPr indent="0" marL="0">
                        <a:buNone/>
                      </a:pPr>
                      <a:r>
                        <a:rPr lang="en-US" sz="1800" b="1" dirty="0">
                          <a:solidFill>
                            <a:srgbClr val="F4F0E6"/>
                          </a:solidFill>
                          <a:latin typeface="Arial" pitchFamily="34" charset="0"/>
                          <a:ea typeface="Arial" pitchFamily="34" charset="-122"/>
                          <a:cs typeface="Arial" pitchFamily="34" charset="-120"/>
                        </a:rPr>
                        <a:t>Proposed price</a:t>
                      </a:r>
                      <a:endParaRPr lang="en-US" sz="1800" dirty="0">
                        <a:latin typeface="Arial" charset="0"/>
                        <a:ea typeface="Arial" charset="0"/>
                        <a:cs typeface="Arial"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14211D"/>
                    </a:solidFill>
                  </a:tcPr>
                </a:tc>
              </a:tr>
              <a:tr h="566928">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Car owners</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FBF9F3"/>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Lifetime passport, fuel tracking</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FBF9F3"/>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Free</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FBF9F3"/>
                    </a:solidFill>
                  </a:tcPr>
                </a:tc>
              </a:tr>
              <a:tr h="566928">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Private sellers</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E9E3D4"/>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Listing with shareable history</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E9E3D4"/>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KES 500 per listing</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E9E3D4"/>
                    </a:solidFill>
                  </a:tcPr>
                </a:tc>
              </a:tr>
              <a:tr h="566928">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Garages</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FBF9F3"/>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Log work for customers</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FBF9F3"/>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Free during pilot</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FBF9F3"/>
                    </a:solidFill>
                  </a:tcPr>
                </a:tc>
              </a:tr>
              <a:tr h="566928">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Dealers and fleets</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E9E3D4"/>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Multi-vehicle garage</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E9E3D4"/>
                    </a:solidFill>
                  </a:tcPr>
                </a:tc>
                <a:tc>
                  <a:txBody>
                    <a:bodyPr/>
                    <a:lstStyle/>
                    <a:p>
                      <a:pPr indent="0" marL="0">
                        <a:buNone/>
                      </a:pPr>
                      <a:r>
                        <a:rPr lang="en-US" sz="1800" dirty="0">
                          <a:solidFill>
                            <a:srgbClr val="14211D"/>
                          </a:solidFill>
                          <a:latin typeface="Calibri" pitchFamily="34" charset="0"/>
                          <a:ea typeface="Calibri" pitchFamily="34" charset="-122"/>
                          <a:cs typeface="Calibri" pitchFamily="34" charset="-120"/>
                        </a:rPr>
                        <a:t>Set after pilot</a:t>
                      </a:r>
                      <a:endParaRPr lang="en-US" sz="1800" dirty="0">
                        <a:latin typeface="Calibri" charset="0"/>
                        <a:ea typeface="Calibri" charset="0"/>
                        <a:cs typeface="Calibri" charset="0"/>
                      </a:endParaRPr>
                    </a:p>
                  </a:txBody>
                  <a:tcPr marL="137160" marR="137160" marT="0" marB="0" anchor="ctr">
                    <a:lnL w="9525" cap="flat" cmpd="sng" algn="ctr">
                      <a:solidFill>
                        <a:srgbClr val="D8D0BC"/>
                      </a:solidFill>
                      <a:prstDash val="solid"/>
                      <a:round/>
                      <a:headEnd type="none" w="med" len="med"/>
                      <a:tailEnd type="none" w="med" len="med"/>
                    </a:lnL>
                    <a:lnR w="9525" cap="flat" cmpd="sng" algn="ctr">
                      <a:solidFill>
                        <a:srgbClr val="D8D0BC"/>
                      </a:solidFill>
                      <a:prstDash val="solid"/>
                      <a:round/>
                      <a:headEnd type="none" w="med" len="med"/>
                      <a:tailEnd type="none" w="med" len="med"/>
                    </a:lnR>
                    <a:lnT w="9525" cap="flat" cmpd="sng" algn="ctr">
                      <a:solidFill>
                        <a:srgbClr val="D8D0BC"/>
                      </a:solidFill>
                      <a:prstDash val="solid"/>
                      <a:round/>
                      <a:headEnd type="none" w="med" len="med"/>
                      <a:tailEnd type="none" w="med" len="med"/>
                    </a:lnT>
                    <a:lnB w="9525" cap="flat" cmpd="sng" algn="ctr">
                      <a:solidFill>
                        <a:srgbClr val="D8D0BC"/>
                      </a:solidFill>
                      <a:prstDash val="solid"/>
                      <a:round/>
                      <a:headEnd type="none" w="med" len="med"/>
                      <a:tailEnd type="none" w="med" len="med"/>
                    </a:lnB>
                    <a:solidFill>
                      <a:srgbClr val="E9E3D4"/>
                    </a:solidFill>
                  </a:tcPr>
                </a:tc>
              </a:tr>
            </a:tbl>
          </a:graphicData>
        </a:graphic>
      </p:graphicFrame>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r>
              <a:rPr lang="en-US" sz="1400" b="1" spc="300" kern="0" dirty="0">
                <a:solidFill>
                  <a:srgbClr val="9A5B0C"/>
                </a:solidFill>
                <a:latin typeface="Calibri" pitchFamily="34" charset="0"/>
                <a:ea typeface="Calibri" pitchFamily="34" charset="-122"/>
                <a:cs typeface="Calibri" pitchFamily="34" charset="-120"/>
              </a:rPr>
              <a:t>HOW WE BUILT IT</a:t>
            </a:r>
            <a:endParaRPr lang="en-US" sz="1400" dirty="0"/>
          </a:p>
        </p:txBody>
      </p:sp>
      <p:sp>
        <p:nvSpPr>
          <p:cNvPr id="3"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r>
              <a:rPr lang="en-US" sz="3600" b="1" dirty="0">
                <a:solidFill>
                  <a:srgbClr val="14211D"/>
                </a:solidFill>
                <a:latin typeface="Arial" pitchFamily="34" charset="0"/>
                <a:ea typeface="Arial" pitchFamily="34" charset="-122"/>
                <a:cs typeface="Arial" pitchFamily="34" charset="-120"/>
              </a:rPr>
              <a:t>Working software, written in Jac</a:t>
            </a:r>
            <a:endParaRPr lang="en-US" sz="3600" dirty="0"/>
          </a:p>
        </p:txBody>
      </p:sp>
      <p:sp>
        <p:nvSpPr>
          <p:cNvPr id="4" name="Jac domain card"/>
          <p:cNvSpPr/>
          <p:nvPr/>
        </p:nvSpPr>
        <p:spPr>
          <a:xfrm>
            <a:off x="548640" y="2331720"/>
            <a:ext cx="3447288" cy="3291840"/>
          </a:xfrm>
          <a:prstGeom prst="roundRect">
            <a:avLst>
              <a:gd name="adj" fmla="val 3333"/>
            </a:avLst>
          </a:prstGeom>
          <a:solidFill>
            <a:srgbClr val="FBF9F3"/>
          </a:solidFill>
          <a:ln w="12700">
            <a:solidFill>
              <a:srgbClr val="D8D0BC"/>
            </a:solidFill>
            <a:prstDash val="solid"/>
          </a:ln>
        </p:spPr>
      </p:sp>
      <p:sp>
        <p:nvSpPr>
          <p:cNvPr id="5" name="Jac domain circle"/>
          <p:cNvSpPr/>
          <p:nvPr/>
        </p:nvSpPr>
        <p:spPr>
          <a:xfrm>
            <a:off x="868680" y="2651760"/>
            <a:ext cx="640080" cy="640080"/>
          </a:xfrm>
          <a:prstGeom prst="ellipse">
            <a:avLst/>
          </a:prstGeom>
          <a:solidFill>
            <a:srgbClr val="E9A23B"/>
          </a:solidFill>
          <a:ln w="12700">
            <a:solidFill>
              <a:srgbClr val="E9A23B"/>
            </a:solidFill>
            <a:prstDash val="solid"/>
          </a:ln>
        </p:spPr>
      </p:sp>
      <p:sp>
        <p:nvSpPr>
          <p:cNvPr id="6" name="Jac domain label"/>
          <p:cNvSpPr txBox="1"/>
          <p:nvPr/>
        </p:nvSpPr>
        <p:spPr>
          <a:xfrm>
            <a:off x="868680"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01</a:t>
            </a:r>
            <a:endParaRPr lang="en-US" sz="1600" dirty="0"/>
          </a:p>
        </p:txBody>
      </p:sp>
      <p:sp>
        <p:nvSpPr>
          <p:cNvPr id="7" name="Jac domain title"/>
          <p:cNvSpPr txBox="1"/>
          <p:nvPr/>
        </p:nvSpPr>
        <p:spPr>
          <a:xfrm>
            <a:off x="868680" y="3474720"/>
            <a:ext cx="283464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Jac domain</a:t>
            </a:r>
            <a:endParaRPr lang="en-US" sz="2200" dirty="0"/>
          </a:p>
        </p:txBody>
      </p:sp>
      <p:sp>
        <p:nvSpPr>
          <p:cNvPr id="8" name="Jac domain text"/>
          <p:cNvSpPr txBox="1"/>
          <p:nvPr/>
        </p:nvSpPr>
        <p:spPr>
          <a:xfrm>
            <a:off x="868680" y="4069080"/>
            <a:ext cx="2834640" cy="146304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Vehicles, records and ownership as Jac nodes and edges. A Passport walker assembles each history.</a:t>
            </a:r>
            <a:endParaRPr lang="en-US" sz="1600" dirty="0"/>
          </a:p>
        </p:txBody>
      </p:sp>
      <p:sp>
        <p:nvSpPr>
          <p:cNvPr id="9" name="Gemini agent card"/>
          <p:cNvSpPr/>
          <p:nvPr/>
        </p:nvSpPr>
        <p:spPr>
          <a:xfrm>
            <a:off x="4370832" y="2331720"/>
            <a:ext cx="3447288" cy="3291840"/>
          </a:xfrm>
          <a:prstGeom prst="roundRect">
            <a:avLst>
              <a:gd name="adj" fmla="val 3333"/>
            </a:avLst>
          </a:prstGeom>
          <a:solidFill>
            <a:srgbClr val="FBF9F3"/>
          </a:solidFill>
          <a:ln w="12700">
            <a:solidFill>
              <a:srgbClr val="D8D0BC"/>
            </a:solidFill>
            <a:prstDash val="solid"/>
          </a:ln>
        </p:spPr>
      </p:sp>
      <p:sp>
        <p:nvSpPr>
          <p:cNvPr id="10" name="Gemini agent circle"/>
          <p:cNvSpPr/>
          <p:nvPr/>
        </p:nvSpPr>
        <p:spPr>
          <a:xfrm>
            <a:off x="4690872" y="2651760"/>
            <a:ext cx="640080" cy="640080"/>
          </a:xfrm>
          <a:prstGeom prst="ellipse">
            <a:avLst/>
          </a:prstGeom>
          <a:solidFill>
            <a:srgbClr val="E9A23B"/>
          </a:solidFill>
          <a:ln w="12700">
            <a:solidFill>
              <a:srgbClr val="E9A23B"/>
            </a:solidFill>
            <a:prstDash val="solid"/>
          </a:ln>
        </p:spPr>
      </p:sp>
      <p:sp>
        <p:nvSpPr>
          <p:cNvPr id="11" name="Gemini agent label"/>
          <p:cNvSpPr txBox="1"/>
          <p:nvPr/>
        </p:nvSpPr>
        <p:spPr>
          <a:xfrm>
            <a:off x="4690872"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02</a:t>
            </a:r>
            <a:endParaRPr lang="en-US" sz="1600" dirty="0"/>
          </a:p>
        </p:txBody>
      </p:sp>
      <p:sp>
        <p:nvSpPr>
          <p:cNvPr id="12" name="Gemini agent title"/>
          <p:cNvSpPr txBox="1"/>
          <p:nvPr/>
        </p:nvSpPr>
        <p:spPr>
          <a:xfrm>
            <a:off x="4690872" y="3474720"/>
            <a:ext cx="283464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Gemini agent</a:t>
            </a:r>
            <a:endParaRPr lang="en-US" sz="2200" dirty="0"/>
          </a:p>
        </p:txBody>
      </p:sp>
      <p:sp>
        <p:nvSpPr>
          <p:cNvPr id="13" name="Gemini agent text"/>
          <p:cNvSpPr txBox="1"/>
          <p:nvPr/>
        </p:nvSpPr>
        <p:spPr>
          <a:xfrm>
            <a:off x="4690872" y="4069080"/>
            <a:ext cx="2834640" cy="146304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A bounded tool loop reads only your garage and turns requests into proposals you approve.</a:t>
            </a:r>
            <a:endParaRPr lang="en-US" sz="1600" dirty="0"/>
          </a:p>
        </p:txBody>
      </p:sp>
      <p:sp>
        <p:nvSpPr>
          <p:cNvPr id="14" name="Local and tested card"/>
          <p:cNvSpPr/>
          <p:nvPr/>
        </p:nvSpPr>
        <p:spPr>
          <a:xfrm>
            <a:off x="8193024" y="2331720"/>
            <a:ext cx="3447288" cy="3291840"/>
          </a:xfrm>
          <a:prstGeom prst="roundRect">
            <a:avLst>
              <a:gd name="adj" fmla="val 3333"/>
            </a:avLst>
          </a:prstGeom>
          <a:solidFill>
            <a:srgbClr val="FBF9F3"/>
          </a:solidFill>
          <a:ln w="12700">
            <a:solidFill>
              <a:srgbClr val="D8D0BC"/>
            </a:solidFill>
            <a:prstDash val="solid"/>
          </a:ln>
        </p:spPr>
      </p:sp>
      <p:sp>
        <p:nvSpPr>
          <p:cNvPr id="15" name="Local and tested circle"/>
          <p:cNvSpPr/>
          <p:nvPr/>
        </p:nvSpPr>
        <p:spPr>
          <a:xfrm>
            <a:off x="8513064" y="2651760"/>
            <a:ext cx="640080" cy="640080"/>
          </a:xfrm>
          <a:prstGeom prst="ellipse">
            <a:avLst/>
          </a:prstGeom>
          <a:solidFill>
            <a:srgbClr val="E9A23B"/>
          </a:solidFill>
          <a:ln w="12700">
            <a:solidFill>
              <a:srgbClr val="E9A23B"/>
            </a:solidFill>
            <a:prstDash val="solid"/>
          </a:ln>
        </p:spPr>
      </p:sp>
      <p:sp>
        <p:nvSpPr>
          <p:cNvPr id="16" name="Local and tested label"/>
          <p:cNvSpPr txBox="1"/>
          <p:nvPr/>
        </p:nvSpPr>
        <p:spPr>
          <a:xfrm>
            <a:off x="8513064" y="2651760"/>
            <a:ext cx="640080" cy="640080"/>
          </a:xfrm>
          <a:prstGeom prst="rect">
            <a:avLst/>
          </a:prstGeom>
          <a:noFill/>
          <a:ln/>
        </p:spPr>
        <p:txBody>
          <a:bodyPr wrap="square" lIns="0" tIns="0" rIns="0" bIns="0" rtlCol="0" anchor="ctr"/>
          <a:lstStyle/>
          <a:p>
            <a:pPr algn="ctr" indent="0" marL="0">
              <a:buNone/>
            </a:pPr>
            <a:r>
              <a:rPr lang="en-US" sz="1600" b="1" dirty="0">
                <a:solidFill>
                  <a:srgbClr val="14211D"/>
                </a:solidFill>
                <a:latin typeface="Arial" pitchFamily="34" charset="0"/>
                <a:ea typeface="Arial" pitchFamily="34" charset="-122"/>
                <a:cs typeface="Arial" pitchFamily="34" charset="-120"/>
              </a:rPr>
              <a:t>03</a:t>
            </a:r>
            <a:endParaRPr lang="en-US" sz="1600" dirty="0"/>
          </a:p>
        </p:txBody>
      </p:sp>
      <p:sp>
        <p:nvSpPr>
          <p:cNvPr id="17" name="Local and tested title"/>
          <p:cNvSpPr txBox="1"/>
          <p:nvPr/>
        </p:nvSpPr>
        <p:spPr>
          <a:xfrm>
            <a:off x="8513064" y="3474720"/>
            <a:ext cx="2834640" cy="502920"/>
          </a:xfrm>
          <a:prstGeom prst="rect">
            <a:avLst/>
          </a:prstGeom>
          <a:noFill/>
          <a:ln/>
        </p:spPr>
        <p:txBody>
          <a:bodyPr wrap="square" lIns="0" tIns="0" rIns="0" bIns="0" rtlCol="0" anchor="t"/>
          <a:lstStyle/>
          <a:p>
            <a:pPr indent="0" marL="0">
              <a:buNone/>
            </a:pPr>
            <a:r>
              <a:rPr lang="en-US" sz="2200" b="1" dirty="0">
                <a:solidFill>
                  <a:srgbClr val="14211D"/>
                </a:solidFill>
                <a:latin typeface="Arial" pitchFamily="34" charset="0"/>
                <a:ea typeface="Arial" pitchFamily="34" charset="-122"/>
                <a:cs typeface="Arial" pitchFamily="34" charset="-120"/>
              </a:rPr>
              <a:t>Local and tested</a:t>
            </a:r>
            <a:endParaRPr lang="en-US" sz="2200" dirty="0"/>
          </a:p>
        </p:txBody>
      </p:sp>
      <p:sp>
        <p:nvSpPr>
          <p:cNvPr id="18" name="Local and tested text"/>
          <p:cNvSpPr txBox="1"/>
          <p:nvPr/>
        </p:nvSpPr>
        <p:spPr>
          <a:xfrm>
            <a:off x="8513064" y="4069080"/>
            <a:ext cx="2834640" cy="1463040"/>
          </a:xfrm>
          <a:prstGeom prst="rect">
            <a:avLst/>
          </a:prstGeom>
          <a:noFill/>
          <a:ln/>
        </p:spPr>
        <p:txBody>
          <a:bodyPr wrap="square" lIns="0" tIns="0" rIns="0" bIns="0" rtlCol="0" anchor="t"/>
          <a:lstStyle/>
          <a:p>
            <a:pPr indent="0" marL="0">
              <a:buNone/>
            </a:pPr>
            <a:r>
              <a:rPr lang="en-US" sz="1600" dirty="0">
                <a:solidFill>
                  <a:srgbClr val="4A544F"/>
                </a:solidFill>
                <a:latin typeface="Calibri" pitchFamily="34" charset="0"/>
                <a:ea typeface="Calibri" pitchFamily="34" charset="-122"/>
                <a:cs typeface="Calibri" pitchFamily="34" charset="-120"/>
              </a:rPr>
              <a:t>Python host with SQLite transactions, a Jac-compiled web client and 39 passing backend tests.</a:t>
            </a:r>
            <a:endParaRPr lang="en-US" sz="1600" dirty="0"/>
          </a:p>
        </p:txBody>
      </p:sp>
      <p:sp>
        <p:nvSpPr>
          <p:cNvPr id="20"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4A544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losing statement"/>
          <p:cNvSpPr txBox="1"/>
          <p:nvPr/>
        </p:nvSpPr>
        <p:spPr>
          <a:xfrm>
            <a:off x="548640" y="1737360"/>
            <a:ext cx="10241280" cy="2194560"/>
          </a:xfrm>
          <a:prstGeom prst="rect">
            <a:avLst/>
          </a:prstGeom>
          <a:noFill/>
          <a:ln/>
        </p:spPr>
        <p:txBody>
          <a:bodyPr wrap="square" lIns="0" tIns="0" rIns="0" bIns="0" rtlCol="0" anchor="t"/>
          <a:lstStyle/>
          <a:p>
            <a:pPr indent="0" marL="0">
              <a:buNone/>
            </a:pPr>
            <a:r>
              <a:rPr lang="en-US" sz="4800" b="1" dirty="0">
                <a:solidFill>
                  <a:srgbClr val="F4F0E6"/>
                </a:solidFill>
                <a:latin typeface="Arial" pitchFamily="34" charset="0"/>
                <a:ea typeface="Arial" pitchFamily="34" charset="-122"/>
                <a:cs typeface="Arial" pitchFamily="34" charset="-120"/>
              </a:rPr>
              <a:t>Make “full service history” something you can </a:t>
            </a:r>
            <a:pPr indent="0" marL="0">
              <a:buNone/>
            </a:pPr>
            <a:r>
              <a:rPr lang="en-US" sz="4800" b="1" dirty="0">
                <a:solidFill>
                  <a:srgbClr val="E9A23B"/>
                </a:solidFill>
                <a:latin typeface="Arial" pitchFamily="34" charset="0"/>
                <a:ea typeface="Arial" pitchFamily="34" charset="-122"/>
                <a:cs typeface="Arial" pitchFamily="34" charset="-120"/>
              </a:rPr>
              <a:t>prove</a:t>
            </a:r>
            <a:endParaRPr lang="en-US" sz="4800" dirty="0"/>
          </a:p>
        </p:txBody>
      </p:sp>
      <p:sp>
        <p:nvSpPr>
          <p:cNvPr id="3" name="Ask"/>
          <p:cNvSpPr txBox="1"/>
          <p:nvPr/>
        </p:nvSpPr>
        <p:spPr>
          <a:xfrm>
            <a:off x="548640" y="4206240"/>
            <a:ext cx="9601200" cy="822960"/>
          </a:xfrm>
          <a:prstGeom prst="rect">
            <a:avLst/>
          </a:prstGeom>
          <a:noFill/>
          <a:ln/>
        </p:spPr>
        <p:txBody>
          <a:bodyPr wrap="square" lIns="0" tIns="0" rIns="0" bIns="0" rtlCol="0" anchor="t"/>
          <a:lstStyle/>
          <a:p>
            <a:pPr indent="0" marL="0">
              <a:buNone/>
            </a:pPr>
            <a:r>
              <a:rPr lang="en-US" sz="2400" dirty="0">
                <a:solidFill>
                  <a:srgbClr val="C9D3CC"/>
                </a:solidFill>
                <a:latin typeface="Calibri" pitchFamily="34" charset="0"/>
                <a:ea typeface="Calibri" pitchFamily="34" charset="-122"/>
                <a:cs typeface="Calibri" pitchFamily="34" charset="-120"/>
              </a:rPr>
              <a:t>Back Smartmoti to pilot with Nairobi garages and the drivers they serve.</a:t>
            </a:r>
            <a:endParaRPr lang="en-US" sz="2400" dirty="0"/>
          </a:p>
        </p:txBody>
      </p:sp>
      <p:sp>
        <p:nvSpPr>
          <p:cNvPr id="4" name="Text 0"/>
          <p:cNvSpPr/>
          <p:nvPr>
            <p:ph idx="102" type="body" hasCustomPrompt="1"/>
          </p:nvPr>
        </p:nvSpPr>
        <p:spPr>
          <a:xfrm>
            <a:off x="548640" y="6263640"/>
            <a:ext cx="10241280" cy="320040"/>
          </a:xfrm>
          <a:prstGeom prst="rect">
            <a:avLst/>
          </a:prstGeom>
          <a:noFill/>
          <a:ln/>
        </p:spPr>
        <p:txBody>
          <a:bodyPr wrap="square" lIns="0" tIns="0" rIns="0" bIns="0" rtlCol="0"/>
          <a:lstStyle/>
          <a:p>
            <a:pPr indent="0" marL="0">
              <a:buNone/>
            </a:pPr>
            <a:r>
              <a:rPr lang="en-US" sz="1100" dirty="0">
                <a:solidFill>
                  <a:srgbClr val="C9D3CC"/>
                </a:solidFill>
                <a:latin typeface="Calibri" pitchFamily="34" charset="0"/>
                <a:ea typeface="Calibri" pitchFamily="34" charset="-122"/>
                <a:cs typeface="Calibri" pitchFamily="34" charset="-120"/>
              </a:rPr>
              <a:t>Smartmoti · github.com/kinyagia/smartmoti</a:t>
            </a:r>
            <a:endParaRPr lang="en-US" sz="1100" dirty="0"/>
          </a:p>
        </p:txBody>
      </p:sp>
      <p:sp>
        <p:nvSpPr>
          <p:cNvPr id="6" name="Text 0"/>
          <p:cNvSpPr/>
          <p:nvPr>
            <p:ph idx="100" type="body" hasCustomPrompt="1"/>
          </p:nvPr>
        </p:nvSpPr>
        <p:spPr>
          <a:xfrm>
            <a:off x="548640" y="457200"/>
            <a:ext cx="11091672" cy="365760"/>
          </a:xfrm>
          <a:prstGeom prst="rect">
            <a:avLst/>
          </a:prstGeom>
          <a:noFill/>
          <a:ln/>
        </p:spPr>
        <p:txBody>
          <a:bodyPr wrap="square" lIns="0" tIns="0" rIns="0" bIns="0" rtlCol="0"/>
          <a:lstStyle/>
          <a:p>
            <a:pPr indent="0" marL="0">
              <a:buNone/>
            </a:pPr>
            <a:endParaRPr lang="en-US" sz="1400" dirty="0"/>
          </a:p>
        </p:txBody>
      </p:sp>
      <p:sp>
        <p:nvSpPr>
          <p:cNvPr id="7" name="Text 0"/>
          <p:cNvSpPr/>
          <p:nvPr>
            <p:ph idx="101" type="title" hasCustomPrompt="1"/>
          </p:nvPr>
        </p:nvSpPr>
        <p:spPr>
          <a:xfrm>
            <a:off x="548640" y="868680"/>
            <a:ext cx="11091672" cy="114300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155680" y="6263640"/>
            <a:ext cx="4572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D3C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Smartmoti">
  <a:themeElements>
    <a:clrScheme name="Smartmoti">
      <a:dk1>
        <a:srgbClr val="14211D"/>
      </a:dk1>
      <a:lt1>
        <a:srgbClr val="FBF9F3"/>
      </a:lt1>
      <a:dk2>
        <a:srgbClr val="4A544F"/>
      </a:dk2>
      <a:lt2>
        <a:srgbClr val="F4F0E6"/>
      </a:lt2>
      <a:accent1>
        <a:srgbClr val="E9A23B"/>
      </a:accent1>
      <a:accent2>
        <a:srgbClr val="9A5B0C"/>
      </a:accent2>
      <a:accent3>
        <a:srgbClr val="C9D3CC"/>
      </a:accent3>
      <a:accent4>
        <a:srgbClr val="E9E3D4"/>
      </a:accent4>
      <a:accent5>
        <a:srgbClr val="3A4A44"/>
      </a:accent5>
      <a:accent6>
        <a:srgbClr val="2F7D7A"/>
      </a:accent6>
      <a:hlink>
        <a:srgbClr val="9A5B0C"/>
      </a:hlink>
      <a:folHlink>
        <a:srgbClr val="4A544F"/>
      </a:folHlink>
    </a:clrScheme>
    <a:fontScheme name="Smartmot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Smartmoti Pitch Deck</dc:title>
  <dc:subject>PptxGenJS Presentation</dc:subject>
  <dc:creator>Smartmoti</dc:creator>
  <cp:lastModifiedBy>Smartmoti</cp:lastModifiedBy>
  <cp:revision>1</cp:revision>
  <dcterms:created xsi:type="dcterms:W3CDTF">2026-10-17T10:45:59Z</dcterms:created>
  <dcterms:modified xsi:type="dcterms:W3CDTF">2026-10-17T10:45:59Z</dcterms:modified>
</cp:coreProperties>
</file>